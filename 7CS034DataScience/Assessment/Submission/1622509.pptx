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64" r:id="rId5"/>
    <p:sldId id="263" r:id="rId6"/>
    <p:sldId id="25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464"/>
    <p:restoredTop sz="94694"/>
  </p:normalViewPr>
  <p:slideViewPr>
    <p:cSldViewPr snapToGrid="0">
      <p:cViewPr varScale="1">
        <p:scale>
          <a:sx n="114" d="100"/>
          <a:sy n="114" d="100"/>
        </p:scale>
        <p:origin x="192" y="3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64266-CCB4-1487-D2E5-627CDC4C24A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7CA75A8-BB7D-ED7C-C25D-28AFE6A984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0AB375B-C90F-B20B-6428-FC0EA791B280}"/>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5" name="Footer Placeholder 4">
            <a:extLst>
              <a:ext uri="{FF2B5EF4-FFF2-40B4-BE49-F238E27FC236}">
                <a16:creationId xmlns:a16="http://schemas.microsoft.com/office/drawing/2014/main" id="{8684E329-0E72-7823-DC97-BAE5626351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5B84F9-3330-92A3-A44E-BED78217D12D}"/>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3556219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E2C73-EBCD-7B56-98A0-98034B1FCA5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CC6A196-0CF1-278C-BD17-06DFE1B2220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F27BA16-D852-D380-A7B8-DE78911FAA9C}"/>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5" name="Footer Placeholder 4">
            <a:extLst>
              <a:ext uri="{FF2B5EF4-FFF2-40B4-BE49-F238E27FC236}">
                <a16:creationId xmlns:a16="http://schemas.microsoft.com/office/drawing/2014/main" id="{87A05EB3-496B-CC98-DFD2-CE803E0587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CB5AD6-6401-9D91-A1CD-4D51127A9AF1}"/>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2709682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41B89-38A7-334E-9440-A7CE95750BB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8544223-7E45-ABC5-4843-DA8390EF5E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98397FA-8099-3FD1-1F96-A24927ECB50E}"/>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5" name="Footer Placeholder 4">
            <a:extLst>
              <a:ext uri="{FF2B5EF4-FFF2-40B4-BE49-F238E27FC236}">
                <a16:creationId xmlns:a16="http://schemas.microsoft.com/office/drawing/2014/main" id="{A51B5E36-8A2E-2371-52FA-67F06025C8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C590DD-2E9B-E9F3-ABEB-42F58818522F}"/>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747040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809C7-F5DF-482B-70E0-F75EBD32D5F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E09E5C3-CB83-DF79-1D4E-5F8F607B421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8A105E1-EA44-B58C-BCC9-A2777661E75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4538D99-CAFB-0E18-8F71-8CBC23137A04}"/>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6" name="Footer Placeholder 5">
            <a:extLst>
              <a:ext uri="{FF2B5EF4-FFF2-40B4-BE49-F238E27FC236}">
                <a16:creationId xmlns:a16="http://schemas.microsoft.com/office/drawing/2014/main" id="{E1163DC7-241E-B47E-3430-07A24F4CC9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7F5C34-951E-58CE-C4BE-7AF95331B75E}"/>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299103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4C656-DC93-BAC6-921E-DA79C231B22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D693260-4F38-FD7A-FB79-D3493CB6F0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74C9C34-48CF-06EF-3C60-277C47DC4C6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31A88220-5455-813C-0E3F-427CE89963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66B80BA-1808-7A06-7E4C-49E6F90CA28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D6A89C5-40F4-08E5-E446-B07DF1EB298B}"/>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8" name="Footer Placeholder 7">
            <a:extLst>
              <a:ext uri="{FF2B5EF4-FFF2-40B4-BE49-F238E27FC236}">
                <a16:creationId xmlns:a16="http://schemas.microsoft.com/office/drawing/2014/main" id="{0AF9522B-EA2E-B953-0C68-47B7862924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D1CB21-0812-83E3-9A63-1B78E4501E5E}"/>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3165803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19B0A-4C13-30DD-A99D-262A416BCD02}"/>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2439B13-D5D4-E087-0AE2-786E62709EE9}"/>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4" name="Footer Placeholder 3">
            <a:extLst>
              <a:ext uri="{FF2B5EF4-FFF2-40B4-BE49-F238E27FC236}">
                <a16:creationId xmlns:a16="http://schemas.microsoft.com/office/drawing/2014/main" id="{3F197434-DF12-AC8C-FB04-2AC59AA7BDE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D8A351-964C-81E8-DFBC-289EEEBF6EDC}"/>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534798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646E61-2D81-6352-C18F-7EDEBA2F440C}"/>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3" name="Footer Placeholder 2">
            <a:extLst>
              <a:ext uri="{FF2B5EF4-FFF2-40B4-BE49-F238E27FC236}">
                <a16:creationId xmlns:a16="http://schemas.microsoft.com/office/drawing/2014/main" id="{8793CF74-3074-9FBA-1974-D0FDA70B6A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B83E407-A83F-C167-0BC8-241DC330431C}"/>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794304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BDD5-C8E2-9C0C-E7DD-33646C83A92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12B82B6-2C69-3ADF-771D-59FA5EAF66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029045C-E19C-6EBE-15A1-C8DBDA8656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36437DE-858D-F0B0-B05B-965F36E8E1FD}"/>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6" name="Footer Placeholder 5">
            <a:extLst>
              <a:ext uri="{FF2B5EF4-FFF2-40B4-BE49-F238E27FC236}">
                <a16:creationId xmlns:a16="http://schemas.microsoft.com/office/drawing/2014/main" id="{8E99EBC1-2926-A699-9CB1-0B9DB9AE1E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7988F7-0906-F6A8-C3A3-99C96944BE85}"/>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1813674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5D5DF-4CFA-8777-F17F-0D62BDC09E1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B41EB5C-CEAD-002B-B4E6-DF62BDB23A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8456DE-E294-D8BD-8598-DA8F2D8DEA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502B89C-7E7D-CFAC-EFEC-402433BDA269}"/>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6" name="Footer Placeholder 5">
            <a:extLst>
              <a:ext uri="{FF2B5EF4-FFF2-40B4-BE49-F238E27FC236}">
                <a16:creationId xmlns:a16="http://schemas.microsoft.com/office/drawing/2014/main" id="{DD62F537-479C-8E59-49E6-79DCDC30DB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AA7777-8C8B-99C6-B498-C6156FBEBC24}"/>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3293866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B4D96-EEB5-1838-081B-7D438E510C5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ACAF3D9-7A7B-03BF-0E79-19D2A4ABBDB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B3CFB8F-48D6-BE34-028D-417B0AB80C2C}"/>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5" name="Footer Placeholder 4">
            <a:extLst>
              <a:ext uri="{FF2B5EF4-FFF2-40B4-BE49-F238E27FC236}">
                <a16:creationId xmlns:a16="http://schemas.microsoft.com/office/drawing/2014/main" id="{D733FF82-65B7-1EC5-EE78-E37AE4ADEA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2CE295-19BE-3313-EE85-AEF83E1F11F6}"/>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13212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063B03-CDEA-A0B7-A77C-8CE9DB05E07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7381597-F87C-29DB-B3D4-E5F859B34FB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FE73258-3743-BD95-B26B-91BF74E92C36}"/>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5" name="Footer Placeholder 4">
            <a:extLst>
              <a:ext uri="{FF2B5EF4-FFF2-40B4-BE49-F238E27FC236}">
                <a16:creationId xmlns:a16="http://schemas.microsoft.com/office/drawing/2014/main" id="{501C69D6-47CE-39CF-8E3E-7C27DA715A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1680C9-3CC9-46E1-245D-5AD17B825836}"/>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467472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EDAD0A-743F-995F-3BB0-12B72898E9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5C23333-6299-BBC9-0E1F-B4EC338E1D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82969D9-DA65-A709-CD4A-3280B432E1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EB1921-2876-7B42-8268-98E2191687A8}" type="datetimeFigureOut">
              <a:rPr lang="en-US" smtClean="0"/>
              <a:t>11/17/23</a:t>
            </a:fld>
            <a:endParaRPr lang="en-US"/>
          </a:p>
        </p:txBody>
      </p:sp>
      <p:sp>
        <p:nvSpPr>
          <p:cNvPr id="5" name="Footer Placeholder 4">
            <a:extLst>
              <a:ext uri="{FF2B5EF4-FFF2-40B4-BE49-F238E27FC236}">
                <a16:creationId xmlns:a16="http://schemas.microsoft.com/office/drawing/2014/main" id="{FCB9010E-C61D-F617-D17A-69C8D35624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2ACD980-9053-7947-D561-67ACD1ACC4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E8EF9C-8E74-6841-903B-1E44D63791BD}" type="slidenum">
              <a:rPr lang="en-US" smtClean="0"/>
              <a:t>‹#›</a:t>
            </a:fld>
            <a:endParaRPr lang="en-US"/>
          </a:p>
        </p:txBody>
      </p:sp>
    </p:spTree>
    <p:extLst>
      <p:ext uri="{BB962C8B-B14F-4D97-AF65-F5344CB8AC3E}">
        <p14:creationId xmlns:p14="http://schemas.microsoft.com/office/powerpoint/2010/main" val="37897536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BE60996-95E1-4219-8811-2F3FC4DD59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588BDFC-92FD-4B52-A1F8-A7145B253C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CF52501A-1B59-4996-909F-95BD8B7A00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17348" y="774914"/>
            <a:ext cx="304800" cy="429768"/>
            <a:chOff x="215328" y="-46937"/>
            <a:chExt cx="304800" cy="2773841"/>
          </a:xfrm>
        </p:grpSpPr>
        <p:cxnSp>
          <p:nvCxnSpPr>
            <p:cNvPr id="20" name="Straight Connector 19">
              <a:extLst>
                <a:ext uri="{FF2B5EF4-FFF2-40B4-BE49-F238E27FC236}">
                  <a16:creationId xmlns:a16="http://schemas.microsoft.com/office/drawing/2014/main" id="{BACF6F63-E496-4758-B4B0-79578F1D42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3A566BD-14BF-4975-A629-2242FB9A16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58B6F6-331A-41C9-A0E0-C8F2D0F0AA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B44A1C3-A751-4429-A36C-75293EB705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0229F256-3084-42C6-8567-C30AB4A3A9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6" name="Oval 25">
              <a:extLst>
                <a:ext uri="{FF2B5EF4-FFF2-40B4-BE49-F238E27FC236}">
                  <a16:creationId xmlns:a16="http://schemas.microsoft.com/office/drawing/2014/main" id="{D968CB7F-96C6-4057-9198-2438FAB5F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94EFC794-65C5-4AD5-80B2-E581C15D1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74BA93FA-EB8D-45FD-8BF1-2C01BADFA8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A6BA6DD0-24D4-4A3C-A506-4376071825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D99CA22A-E14A-4E9F-9063-2183A86A8A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F2EEF76-D16B-4D28-A1CA-2CBC570302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F1B81E3E-D365-405C-B698-85A456CC64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3B7FC6A0-0884-4AA8-9B77-6EFF52084A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6" name="Straight Connector 35">
              <a:extLst>
                <a:ext uri="{FF2B5EF4-FFF2-40B4-BE49-F238E27FC236}">
                  <a16:creationId xmlns:a16="http://schemas.microsoft.com/office/drawing/2014/main" id="{6CE87892-DCE3-4314-BA0E-7BB4CB286F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AD513AD-8792-4E4C-87EB-86318862E8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AD8C5B1-BB75-4899-BE14-9E23272585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4BE5B0A-47EE-498D-A39B-C5EC49B40C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FE67E84-3C03-F47D-73E5-40AE40ADD9C6}"/>
              </a:ext>
            </a:extLst>
          </p:cNvPr>
          <p:cNvSpPr>
            <a:spLocks noGrp="1"/>
          </p:cNvSpPr>
          <p:nvPr>
            <p:ph type="ctrTitle"/>
          </p:nvPr>
        </p:nvSpPr>
        <p:spPr>
          <a:xfrm>
            <a:off x="630936" y="190062"/>
            <a:ext cx="10846762" cy="2199941"/>
          </a:xfrm>
          <a:noFill/>
        </p:spPr>
        <p:txBody>
          <a:bodyPr vert="horz" lIns="91440" tIns="45720" rIns="91440" bIns="45720" rtlCol="0" anchor="t">
            <a:normAutofit/>
          </a:bodyPr>
          <a:lstStyle/>
          <a:p>
            <a:pPr algn="l"/>
            <a:r>
              <a:rPr lang="en-US" sz="4800" kern="1200" dirty="0">
                <a:solidFill>
                  <a:schemeClr val="tx1"/>
                </a:solidFill>
                <a:latin typeface="+mj-lt"/>
                <a:ea typeface="+mj-ea"/>
                <a:cs typeface="+mj-cs"/>
              </a:rPr>
              <a:t>Exploratory Data Analysis:   Sociodemographic Patterns and Trends</a:t>
            </a:r>
          </a:p>
        </p:txBody>
      </p:sp>
      <p:grpSp>
        <p:nvGrpSpPr>
          <p:cNvPr id="41" name="Group 40">
            <a:extLst>
              <a:ext uri="{FF2B5EF4-FFF2-40B4-BE49-F238E27FC236}">
                <a16:creationId xmlns:a16="http://schemas.microsoft.com/office/drawing/2014/main" id="{FD553398-DC05-402D-A84A-A62E644265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877278" y="4945279"/>
            <a:ext cx="1285875" cy="549007"/>
            <a:chOff x="7029447" y="3514725"/>
            <a:chExt cx="1285875" cy="549007"/>
          </a:xfrm>
        </p:grpSpPr>
        <p:cxnSp>
          <p:nvCxnSpPr>
            <p:cNvPr id="42" name="Straight Connector 41">
              <a:extLst>
                <a:ext uri="{FF2B5EF4-FFF2-40B4-BE49-F238E27FC236}">
                  <a16:creationId xmlns:a16="http://schemas.microsoft.com/office/drawing/2014/main" id="{627E43D6-5DF9-4B01-8F18-16C49D7BB4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6132CAB-25D9-4FF7-B2AD-604CC816DF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5173D71-6140-477A-8925-9A532F60E3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0A2170A-B89C-46FC-BEDB-56FDD4C1F7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47" name="Rectangle 46">
            <a:extLst>
              <a:ext uri="{FF2B5EF4-FFF2-40B4-BE49-F238E27FC236}">
                <a16:creationId xmlns:a16="http://schemas.microsoft.com/office/drawing/2014/main" id="{6C54EF3E-F8C9-407C-A1B7-5F7BE916B2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1A1B05ED-8DC4-4823-A87D-EE8FED09F7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50" name="Straight Connector 49">
              <a:extLst>
                <a:ext uri="{FF2B5EF4-FFF2-40B4-BE49-F238E27FC236}">
                  <a16:creationId xmlns:a16="http://schemas.microsoft.com/office/drawing/2014/main" id="{01582BFC-880B-416C-B81E-D95BD0AACC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2393ADB-A995-4D83-ADD1-902FE8CB88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6ECB9CC-0FF2-4CD0-92BF-05D027E7EDD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440617A-6823-4396-BF04-FC091E6FDB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 name="Subtitle 2">
            <a:extLst>
              <a:ext uri="{FF2B5EF4-FFF2-40B4-BE49-F238E27FC236}">
                <a16:creationId xmlns:a16="http://schemas.microsoft.com/office/drawing/2014/main" id="{5A8B20C0-C5B9-37D5-66CB-5F84B3A3E6DC}"/>
              </a:ext>
            </a:extLst>
          </p:cNvPr>
          <p:cNvSpPr>
            <a:spLocks noGrp="1"/>
          </p:cNvSpPr>
          <p:nvPr>
            <p:ph type="subTitle" idx="1"/>
          </p:nvPr>
        </p:nvSpPr>
        <p:spPr>
          <a:xfrm>
            <a:off x="2345015" y="1605794"/>
            <a:ext cx="7613106" cy="1378553"/>
          </a:xfrm>
        </p:spPr>
        <p:txBody>
          <a:bodyPr/>
          <a:lstStyle/>
          <a:p>
            <a:pPr defTabSz="758952">
              <a:spcBef>
                <a:spcPts val="830"/>
              </a:spcBef>
            </a:pPr>
            <a:r>
              <a:rPr lang="en-US" sz="1992" kern="1200" dirty="0">
                <a:solidFill>
                  <a:schemeClr val="tx1"/>
                </a:solidFill>
                <a:latin typeface="+mn-lt"/>
                <a:ea typeface="+mn-ea"/>
                <a:cs typeface="+mn-cs"/>
              </a:rPr>
              <a:t>Harnessing the Power of Exploratory Data Analysis</a:t>
            </a:r>
          </a:p>
          <a:p>
            <a:pPr defTabSz="758952">
              <a:spcBef>
                <a:spcPts val="830"/>
              </a:spcBef>
            </a:pPr>
            <a:r>
              <a:rPr lang="en-US" sz="1992" kern="1200" dirty="0">
                <a:solidFill>
                  <a:schemeClr val="tx1"/>
                </a:solidFill>
                <a:latin typeface="+mn-lt"/>
                <a:ea typeface="+mn-ea"/>
                <a:cs typeface="+mn-cs"/>
              </a:rPr>
              <a:t>By </a:t>
            </a:r>
            <a:r>
              <a:rPr lang="en-US" sz="1992" kern="1200" dirty="0" err="1">
                <a:solidFill>
                  <a:schemeClr val="tx1"/>
                </a:solidFill>
                <a:latin typeface="+mn-lt"/>
                <a:ea typeface="+mn-ea"/>
                <a:cs typeface="+mn-cs"/>
              </a:rPr>
              <a:t>Mazafer</a:t>
            </a:r>
            <a:r>
              <a:rPr lang="en-US" sz="1992" kern="1200" dirty="0">
                <a:solidFill>
                  <a:schemeClr val="tx1"/>
                </a:solidFill>
                <a:latin typeface="+mn-lt"/>
                <a:ea typeface="+mn-ea"/>
                <a:cs typeface="+mn-cs"/>
              </a:rPr>
              <a:t> </a:t>
            </a:r>
            <a:r>
              <a:rPr lang="en-US" sz="1992" kern="1200" dirty="0" err="1">
                <a:solidFill>
                  <a:schemeClr val="tx1"/>
                </a:solidFill>
                <a:latin typeface="+mn-lt"/>
                <a:ea typeface="+mn-ea"/>
                <a:cs typeface="+mn-cs"/>
              </a:rPr>
              <a:t>Ul-Raqib</a:t>
            </a:r>
            <a:r>
              <a:rPr lang="en-US" sz="1992" kern="1200" dirty="0">
                <a:solidFill>
                  <a:schemeClr val="tx1"/>
                </a:solidFill>
                <a:latin typeface="+mn-lt"/>
                <a:ea typeface="+mn-ea"/>
                <a:cs typeface="+mn-cs"/>
              </a:rPr>
              <a:t> (1622509)</a:t>
            </a:r>
          </a:p>
          <a:p>
            <a:pPr defTabSz="758952">
              <a:spcBef>
                <a:spcPts val="830"/>
              </a:spcBef>
            </a:pPr>
            <a:endParaRPr lang="en-US" dirty="0"/>
          </a:p>
        </p:txBody>
      </p:sp>
      <p:pic>
        <p:nvPicPr>
          <p:cNvPr id="6" name="Picture 5" descr="A hexagon with a graph and a line of dots&#10;&#10;Description automatically generated">
            <a:extLst>
              <a:ext uri="{FF2B5EF4-FFF2-40B4-BE49-F238E27FC236}">
                <a16:creationId xmlns:a16="http://schemas.microsoft.com/office/drawing/2014/main" id="{D3D945D2-91C6-66A9-BA6B-AC1D2D70724E}"/>
              </a:ext>
            </a:extLst>
          </p:cNvPr>
          <p:cNvPicPr>
            <a:picLocks noChangeAspect="1"/>
          </p:cNvPicPr>
          <p:nvPr/>
        </p:nvPicPr>
        <p:blipFill>
          <a:blip r:embed="rId2"/>
          <a:stretch>
            <a:fillRect/>
          </a:stretch>
        </p:blipFill>
        <p:spPr>
          <a:xfrm>
            <a:off x="1667064" y="4393716"/>
            <a:ext cx="1769889" cy="2253278"/>
          </a:xfrm>
          <a:prstGeom prst="rect">
            <a:avLst/>
          </a:prstGeom>
        </p:spPr>
      </p:pic>
      <p:pic>
        <p:nvPicPr>
          <p:cNvPr id="8" name="Picture 7" descr="A screen shot of a computer&#10;&#10;Description automatically generated">
            <a:extLst>
              <a:ext uri="{FF2B5EF4-FFF2-40B4-BE49-F238E27FC236}">
                <a16:creationId xmlns:a16="http://schemas.microsoft.com/office/drawing/2014/main" id="{8BBB0DD2-9937-3606-23A4-4A45DB6B88A0}"/>
              </a:ext>
            </a:extLst>
          </p:cNvPr>
          <p:cNvPicPr>
            <a:picLocks noChangeAspect="1"/>
          </p:cNvPicPr>
          <p:nvPr/>
        </p:nvPicPr>
        <p:blipFill>
          <a:blip r:embed="rId3"/>
          <a:stretch>
            <a:fillRect/>
          </a:stretch>
        </p:blipFill>
        <p:spPr>
          <a:xfrm>
            <a:off x="8927897" y="1583056"/>
            <a:ext cx="2834594" cy="2834594"/>
          </a:xfrm>
          <a:prstGeom prst="rect">
            <a:avLst/>
          </a:prstGeom>
        </p:spPr>
      </p:pic>
      <p:sp>
        <p:nvSpPr>
          <p:cNvPr id="10" name="TextBox 9">
            <a:extLst>
              <a:ext uri="{FF2B5EF4-FFF2-40B4-BE49-F238E27FC236}">
                <a16:creationId xmlns:a16="http://schemas.microsoft.com/office/drawing/2014/main" id="{81BC8133-B95E-D878-3EB4-19FF61A682DA}"/>
              </a:ext>
            </a:extLst>
          </p:cNvPr>
          <p:cNvSpPr txBox="1"/>
          <p:nvPr/>
        </p:nvSpPr>
        <p:spPr>
          <a:xfrm>
            <a:off x="3500576" y="2387839"/>
            <a:ext cx="5345790" cy="4047262"/>
          </a:xfrm>
          <a:prstGeom prst="rect">
            <a:avLst/>
          </a:prstGeom>
          <a:noFill/>
        </p:spPr>
        <p:txBody>
          <a:bodyPr wrap="square" rtlCol="0">
            <a:spAutoFit/>
          </a:bodyPr>
          <a:lstStyle/>
          <a:p>
            <a:pPr defTabSz="758952">
              <a:spcAft>
                <a:spcPts val="600"/>
              </a:spcAft>
            </a:pPr>
            <a:r>
              <a:rPr lang="en-US" sz="1400" b="1" u="sng" kern="1200" dirty="0">
                <a:latin typeface="+mn-lt"/>
                <a:ea typeface="+mn-ea"/>
                <a:cs typeface="+mn-cs"/>
              </a:rPr>
              <a:t>References</a:t>
            </a:r>
          </a:p>
          <a:p>
            <a:pPr marL="285750" indent="-285750" algn="l">
              <a:buFont typeface="Arial" panose="020B0604020202020204" pitchFamily="34" charset="0"/>
              <a:buChar char="•"/>
            </a:pPr>
            <a:r>
              <a:rPr lang="en-GB" sz="1400" b="0" i="0" dirty="0">
                <a:effectLst/>
                <a:latin typeface="Söhne"/>
              </a:rPr>
              <a:t>Cairo, A. (2013) </a:t>
            </a:r>
            <a:r>
              <a:rPr lang="en-GB" sz="1400" b="0" i="1" dirty="0">
                <a:effectLst/>
                <a:latin typeface="Söhne"/>
              </a:rPr>
              <a:t>The Functional Art: An introduction to information graphics and visualization</a:t>
            </a:r>
            <a:r>
              <a:rPr lang="en-GB" sz="1400" b="0" i="0" dirty="0">
                <a:effectLst/>
                <a:latin typeface="Söhne"/>
              </a:rPr>
              <a:t>. New Riders.</a:t>
            </a:r>
          </a:p>
          <a:p>
            <a:pPr marL="285750" indent="-285750" algn="l">
              <a:buFont typeface="Arial" panose="020B0604020202020204" pitchFamily="34" charset="0"/>
              <a:buChar char="•"/>
            </a:pPr>
            <a:r>
              <a:rPr lang="en-GB" sz="1400" b="0" i="0" dirty="0">
                <a:effectLst/>
                <a:latin typeface="Söhne"/>
              </a:rPr>
              <a:t>Dent, B.D. (1999) </a:t>
            </a:r>
            <a:r>
              <a:rPr lang="en-GB" sz="1400" b="0" i="1" dirty="0">
                <a:effectLst/>
                <a:latin typeface="Söhne"/>
              </a:rPr>
              <a:t>Cartography: Thematic Map Design</a:t>
            </a:r>
            <a:r>
              <a:rPr lang="en-GB" sz="1400" b="0" i="0" dirty="0">
                <a:effectLst/>
                <a:latin typeface="Söhne"/>
              </a:rPr>
              <a:t>. McGraw-Hill.</a:t>
            </a:r>
          </a:p>
          <a:p>
            <a:pPr marL="285750" indent="-285750" algn="l">
              <a:buFont typeface="Arial" panose="020B0604020202020204" pitchFamily="34" charset="0"/>
              <a:buChar char="•"/>
            </a:pPr>
            <a:r>
              <a:rPr lang="en-GB" sz="1400" b="0" i="0" dirty="0">
                <a:effectLst/>
                <a:latin typeface="Söhne"/>
              </a:rPr>
              <a:t>Few, S. (2009) </a:t>
            </a:r>
            <a:r>
              <a:rPr lang="en-GB" sz="1400" b="0" i="1" dirty="0">
                <a:effectLst/>
                <a:latin typeface="Söhne"/>
              </a:rPr>
              <a:t>Now You See It: Simple Visualization Techniques for Quantitative Analysis</a:t>
            </a:r>
            <a:r>
              <a:rPr lang="en-GB" sz="1400" b="0" i="0" dirty="0">
                <a:effectLst/>
                <a:latin typeface="Söhne"/>
              </a:rPr>
              <a:t>. Analytics Press.</a:t>
            </a:r>
          </a:p>
          <a:p>
            <a:pPr marL="285750" indent="-285750" algn="l">
              <a:buFont typeface="Arial" panose="020B0604020202020204" pitchFamily="34" charset="0"/>
              <a:buChar char="•"/>
            </a:pPr>
            <a:r>
              <a:rPr lang="en-GB" sz="1400" b="0" i="0" dirty="0" err="1">
                <a:effectLst/>
                <a:latin typeface="Söhne"/>
              </a:rPr>
              <a:t>Heer</a:t>
            </a:r>
            <a:r>
              <a:rPr lang="en-GB" sz="1400" b="0" i="0" dirty="0">
                <a:effectLst/>
                <a:latin typeface="Söhne"/>
              </a:rPr>
              <a:t>, J. and Bostock, M. (2010) 'Declarative Language Design for Interactive Visualization', </a:t>
            </a:r>
            <a:r>
              <a:rPr lang="en-GB" sz="1400" b="0" i="1" dirty="0">
                <a:effectLst/>
                <a:latin typeface="Söhne"/>
              </a:rPr>
              <a:t>IEEE Transactions on Visualization and Computer Graphics</a:t>
            </a:r>
            <a:r>
              <a:rPr lang="en-GB" sz="1400" b="0" i="0" dirty="0">
                <a:effectLst/>
                <a:latin typeface="Söhne"/>
              </a:rPr>
              <a:t>, 16(6), pp. 1149-1156.</a:t>
            </a:r>
          </a:p>
          <a:p>
            <a:pPr marL="285750" indent="-285750" algn="l">
              <a:buFont typeface="Arial" panose="020B0604020202020204" pitchFamily="34" charset="0"/>
              <a:buChar char="•"/>
            </a:pPr>
            <a:r>
              <a:rPr lang="en-GB" sz="1400" b="0" i="0" dirty="0">
                <a:effectLst/>
                <a:latin typeface="Söhne"/>
              </a:rPr>
              <a:t>Kelleher, C. and Wagener, T. (2018) </a:t>
            </a:r>
            <a:r>
              <a:rPr lang="en-GB" sz="1400" b="0" i="1" dirty="0">
                <a:effectLst/>
                <a:latin typeface="Söhne"/>
              </a:rPr>
              <a:t>Ten Guidelines for Effective Data Visualization in Scientific Publications</a:t>
            </a:r>
            <a:r>
              <a:rPr lang="en-GB" sz="1400" b="0" i="0" dirty="0">
                <a:effectLst/>
                <a:latin typeface="Söhne"/>
              </a:rPr>
              <a:t>, Environmental Modelling &amp; Software.</a:t>
            </a:r>
          </a:p>
          <a:p>
            <a:pPr marL="285750" indent="-285750" algn="l">
              <a:buFont typeface="Arial" panose="020B0604020202020204" pitchFamily="34" charset="0"/>
              <a:buChar char="•"/>
            </a:pPr>
            <a:r>
              <a:rPr lang="en-GB" sz="1400" b="0" i="0" dirty="0" err="1">
                <a:effectLst/>
                <a:latin typeface="Söhne"/>
              </a:rPr>
              <a:t>Knaflic</a:t>
            </a:r>
            <a:r>
              <a:rPr lang="en-GB" sz="1400" b="0" i="0" dirty="0">
                <a:effectLst/>
                <a:latin typeface="Söhne"/>
              </a:rPr>
              <a:t>, C.N. (2015) </a:t>
            </a:r>
            <a:r>
              <a:rPr lang="en-GB" sz="1400" b="0" i="1" dirty="0">
                <a:effectLst/>
                <a:latin typeface="Söhne"/>
              </a:rPr>
              <a:t>Storytelling with Data: A Data Visualization Guide for Business Professionals</a:t>
            </a:r>
            <a:r>
              <a:rPr lang="en-GB" sz="1400" b="0" i="0" dirty="0">
                <a:effectLst/>
                <a:latin typeface="Söhne"/>
              </a:rPr>
              <a:t>. Wiley.</a:t>
            </a:r>
          </a:p>
          <a:p>
            <a:pPr marL="285750" indent="-285750" algn="l">
              <a:buFont typeface="Arial" panose="020B0604020202020204" pitchFamily="34" charset="0"/>
              <a:buChar char="•"/>
            </a:pPr>
            <a:r>
              <a:rPr lang="en-GB" sz="1400" b="0" i="0" dirty="0">
                <a:effectLst/>
                <a:latin typeface="Söhne"/>
              </a:rPr>
              <a:t>Tufte, E.R. (2001) </a:t>
            </a:r>
            <a:r>
              <a:rPr lang="en-GB" sz="1400" b="0" i="1" dirty="0">
                <a:effectLst/>
                <a:latin typeface="Söhne"/>
              </a:rPr>
              <a:t>The Visual Display of Quantitative Information</a:t>
            </a:r>
            <a:r>
              <a:rPr lang="en-GB" sz="1400" b="0" i="0" dirty="0">
                <a:effectLst/>
                <a:latin typeface="Söhne"/>
              </a:rPr>
              <a:t>. Graphics Press.</a:t>
            </a:r>
          </a:p>
          <a:p>
            <a:pPr marL="285750" indent="-285750" algn="l">
              <a:buFont typeface="Arial" panose="020B0604020202020204" pitchFamily="34" charset="0"/>
              <a:buChar char="•"/>
            </a:pPr>
            <a:r>
              <a:rPr lang="en-GB" sz="1400" b="0" i="0" dirty="0">
                <a:effectLst/>
                <a:latin typeface="Söhne"/>
              </a:rPr>
              <a:t>Wickham, H. (2016) </a:t>
            </a:r>
            <a:r>
              <a:rPr lang="en-GB" sz="1400" b="0" i="1" dirty="0">
                <a:effectLst/>
                <a:latin typeface="Söhne"/>
              </a:rPr>
              <a:t>ggplot2: Elegant Graphics for Data Analysis</a:t>
            </a:r>
            <a:r>
              <a:rPr lang="en-GB" sz="1400" b="0" i="0" dirty="0">
                <a:effectLst/>
                <a:latin typeface="Söhne"/>
              </a:rPr>
              <a:t>. Springer.</a:t>
            </a:r>
          </a:p>
        </p:txBody>
      </p:sp>
    </p:spTree>
    <p:extLst>
      <p:ext uri="{BB962C8B-B14F-4D97-AF65-F5344CB8AC3E}">
        <p14:creationId xmlns:p14="http://schemas.microsoft.com/office/powerpoint/2010/main" val="345547837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a:extLst>
              <a:ext uri="{FF2B5EF4-FFF2-40B4-BE49-F238E27FC236}">
                <a16:creationId xmlns:a16="http://schemas.microsoft.com/office/drawing/2014/main" id="{362810D9-2C5A-477D-949C-C19189547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Graph">
            <a:extLst>
              <a:ext uri="{FF2B5EF4-FFF2-40B4-BE49-F238E27FC236}">
                <a16:creationId xmlns:a16="http://schemas.microsoft.com/office/drawing/2014/main" id="{EAA20AA7-E36E-CB3E-1837-95D5E033C6F3}"/>
              </a:ext>
            </a:extLst>
          </p:cNvPr>
          <p:cNvPicPr>
            <a:picLocks noChangeAspect="1"/>
          </p:cNvPicPr>
          <p:nvPr/>
        </p:nvPicPr>
        <p:blipFill rotWithShape="1">
          <a:blip r:embed="rId2">
            <a:alphaModFix amt="55000"/>
          </a:blip>
          <a:srcRect t="4590" b="5410"/>
          <a:stretch/>
        </p:blipFill>
        <p:spPr>
          <a:xfrm>
            <a:off x="20" y="-9107"/>
            <a:ext cx="12191980" cy="6858000"/>
          </a:xfrm>
          <a:prstGeom prst="rect">
            <a:avLst/>
          </a:prstGeom>
        </p:spPr>
      </p:pic>
      <p:sp>
        <p:nvSpPr>
          <p:cNvPr id="2" name="Title 1">
            <a:extLst>
              <a:ext uri="{FF2B5EF4-FFF2-40B4-BE49-F238E27FC236}">
                <a16:creationId xmlns:a16="http://schemas.microsoft.com/office/drawing/2014/main" id="{087A8327-D519-34E7-F61B-59459C6BEDB3}"/>
              </a:ext>
            </a:extLst>
          </p:cNvPr>
          <p:cNvSpPr>
            <a:spLocks noGrp="1"/>
          </p:cNvSpPr>
          <p:nvPr>
            <p:ph type="title"/>
          </p:nvPr>
        </p:nvSpPr>
        <p:spPr>
          <a:xfrm>
            <a:off x="686834" y="591344"/>
            <a:ext cx="3200400" cy="5585619"/>
          </a:xfrm>
        </p:spPr>
        <p:txBody>
          <a:bodyPr>
            <a:normAutofit/>
          </a:bodyPr>
          <a:lstStyle/>
          <a:p>
            <a:r>
              <a:rPr lang="en-US" b="1" u="sng" dirty="0">
                <a:solidFill>
                  <a:srgbClr val="FFFFFF"/>
                </a:solidFill>
              </a:rPr>
              <a:t>Overview</a:t>
            </a:r>
          </a:p>
        </p:txBody>
      </p:sp>
      <p:sp>
        <p:nvSpPr>
          <p:cNvPr id="28" name="Arc 2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Content Placeholder 2">
            <a:extLst>
              <a:ext uri="{FF2B5EF4-FFF2-40B4-BE49-F238E27FC236}">
                <a16:creationId xmlns:a16="http://schemas.microsoft.com/office/drawing/2014/main" id="{04AEFA4A-741C-00E2-F169-6908AC82FA8A}"/>
              </a:ext>
            </a:extLst>
          </p:cNvPr>
          <p:cNvSpPr>
            <a:spLocks noGrp="1"/>
          </p:cNvSpPr>
          <p:nvPr>
            <p:ph idx="1"/>
          </p:nvPr>
        </p:nvSpPr>
        <p:spPr>
          <a:xfrm>
            <a:off x="4447308" y="591344"/>
            <a:ext cx="6906491" cy="5585619"/>
          </a:xfrm>
        </p:spPr>
        <p:txBody>
          <a:bodyPr anchor="ctr">
            <a:normAutofit fontScale="85000" lnSpcReduction="20000"/>
          </a:bodyPr>
          <a:lstStyle/>
          <a:p>
            <a:pPr marL="0" indent="0">
              <a:buNone/>
            </a:pPr>
            <a:r>
              <a:rPr lang="en-GB" sz="1500" b="0" i="0" dirty="0">
                <a:solidFill>
                  <a:srgbClr val="FFFFFF"/>
                </a:solidFill>
                <a:effectLst/>
                <a:latin typeface="Söhne"/>
              </a:rPr>
              <a:t>Our study navigates the socioeconomic terrain through varied data visualizations that dissect the influences of age, income, and education:</a:t>
            </a:r>
          </a:p>
          <a:p>
            <a:pPr>
              <a:buFont typeface="Arial" panose="020B0604020202020204" pitchFamily="34" charset="0"/>
              <a:buChar char="•"/>
            </a:pPr>
            <a:r>
              <a:rPr lang="en-GB" sz="1500" b="1" i="0" dirty="0">
                <a:solidFill>
                  <a:srgbClr val="FFFFFF"/>
                </a:solidFill>
                <a:effectLst/>
                <a:latin typeface="Söhne"/>
              </a:rPr>
              <a:t>3D Scatter Plot</a:t>
            </a:r>
            <a:r>
              <a:rPr lang="en-GB" sz="1500" b="0" i="0" dirty="0">
                <a:solidFill>
                  <a:srgbClr val="FFFFFF"/>
                </a:solidFill>
                <a:effectLst/>
                <a:latin typeface="Söhne"/>
              </a:rPr>
              <a:t>: Drawing from Tufte's (2001) quantitative insights, this plot reveals the impact of education on income across age groups.</a:t>
            </a:r>
          </a:p>
          <a:p>
            <a:pPr>
              <a:buFont typeface="Arial" panose="020B0604020202020204" pitchFamily="34" charset="0"/>
              <a:buChar char="•"/>
            </a:pPr>
            <a:r>
              <a:rPr lang="en-GB" sz="1500" b="1" i="0" dirty="0">
                <a:solidFill>
                  <a:srgbClr val="FFFFFF"/>
                </a:solidFill>
                <a:effectLst/>
                <a:latin typeface="Söhne"/>
              </a:rPr>
              <a:t>Bubble Chart &amp; Violin Plot</a:t>
            </a:r>
            <a:r>
              <a:rPr lang="en-GB" sz="1500" b="0" i="0" dirty="0">
                <a:solidFill>
                  <a:srgbClr val="FFFFFF"/>
                </a:solidFill>
                <a:effectLst/>
                <a:latin typeface="Söhne"/>
              </a:rPr>
              <a:t>: These visualizations, grounded in </a:t>
            </a:r>
            <a:r>
              <a:rPr lang="en-GB" sz="1500" b="0" i="0" dirty="0" err="1">
                <a:solidFill>
                  <a:srgbClr val="FFFFFF"/>
                </a:solidFill>
                <a:effectLst/>
                <a:latin typeface="Söhne"/>
              </a:rPr>
              <a:t>Knaflic's</a:t>
            </a:r>
            <a:r>
              <a:rPr lang="en-GB" sz="1500" b="0" i="0" dirty="0">
                <a:solidFill>
                  <a:srgbClr val="FFFFFF"/>
                </a:solidFill>
                <a:effectLst/>
                <a:latin typeface="Söhne"/>
              </a:rPr>
              <a:t> (2015) storytelling principles, uncover gender-based economic disparities over time.</a:t>
            </a:r>
          </a:p>
          <a:p>
            <a:pPr>
              <a:buFont typeface="Arial" panose="020B0604020202020204" pitchFamily="34" charset="0"/>
              <a:buChar char="•"/>
            </a:pPr>
            <a:r>
              <a:rPr lang="en-GB" sz="1500" b="1" i="0" dirty="0">
                <a:solidFill>
                  <a:srgbClr val="FFFFFF"/>
                </a:solidFill>
                <a:effectLst/>
                <a:latin typeface="Söhne"/>
              </a:rPr>
              <a:t>Heatmap</a:t>
            </a:r>
            <a:r>
              <a:rPr lang="en-GB" sz="1500" b="0" i="0" dirty="0">
                <a:solidFill>
                  <a:srgbClr val="FFFFFF"/>
                </a:solidFill>
                <a:effectLst/>
                <a:latin typeface="Söhne"/>
              </a:rPr>
              <a:t>: Enhanced by </a:t>
            </a:r>
            <a:r>
              <a:rPr lang="en-GB" sz="1500" b="0" i="0" dirty="0" err="1">
                <a:solidFill>
                  <a:srgbClr val="FFFFFF"/>
                </a:solidFill>
                <a:effectLst/>
                <a:latin typeface="Söhne"/>
              </a:rPr>
              <a:t>Few's</a:t>
            </a:r>
            <a:r>
              <a:rPr lang="en-GB" sz="1500" b="0" i="0" dirty="0">
                <a:solidFill>
                  <a:srgbClr val="FFFFFF"/>
                </a:solidFill>
                <a:effectLst/>
                <a:latin typeface="Söhne"/>
              </a:rPr>
              <a:t> (2009) techniques, it lays bare systemic inequities by showing unequal income opportunities across ethnicities, even with similar education levels.</a:t>
            </a:r>
          </a:p>
          <a:p>
            <a:pPr>
              <a:buFont typeface="Arial" panose="020B0604020202020204" pitchFamily="34" charset="0"/>
              <a:buChar char="•"/>
            </a:pPr>
            <a:r>
              <a:rPr lang="en-GB" sz="1500" b="1" i="0" dirty="0">
                <a:solidFill>
                  <a:srgbClr val="FFFFFF"/>
                </a:solidFill>
                <a:effectLst/>
                <a:latin typeface="Söhne"/>
              </a:rPr>
              <a:t>Donut Chart &amp; Stacked Bar Chart</a:t>
            </a:r>
            <a:r>
              <a:rPr lang="en-GB" sz="1500" b="0" i="0" dirty="0">
                <a:solidFill>
                  <a:srgbClr val="FFFFFF"/>
                </a:solidFill>
                <a:effectLst/>
                <a:latin typeface="Söhne"/>
              </a:rPr>
              <a:t>: These embrace Cairo's (2013) functional art ethos, displaying marital status distributions alongside intersections with income and gender.</a:t>
            </a:r>
          </a:p>
          <a:p>
            <a:pPr>
              <a:buFont typeface="Arial" panose="020B0604020202020204" pitchFamily="34" charset="0"/>
              <a:buChar char="•"/>
            </a:pPr>
            <a:r>
              <a:rPr lang="en-GB" sz="1500" b="1" i="0" dirty="0">
                <a:solidFill>
                  <a:srgbClr val="FFFFFF"/>
                </a:solidFill>
                <a:effectLst/>
                <a:latin typeface="Söhne"/>
              </a:rPr>
              <a:t>Parallel Coordinates Plot</a:t>
            </a:r>
            <a:r>
              <a:rPr lang="en-GB" sz="1500" b="0" i="0" dirty="0">
                <a:solidFill>
                  <a:srgbClr val="FFFFFF"/>
                </a:solidFill>
                <a:effectLst/>
                <a:latin typeface="Söhne"/>
              </a:rPr>
              <a:t>: Clarifies complex socioeconomic relationships, while the Lollipop Chart and Area Plot, informed by Wickham's (2016) layered visualization approach, depict non-linear connections between education and income.</a:t>
            </a:r>
          </a:p>
          <a:p>
            <a:pPr>
              <a:buFont typeface="Arial" panose="020B0604020202020204" pitchFamily="34" charset="0"/>
              <a:buChar char="•"/>
            </a:pPr>
            <a:r>
              <a:rPr lang="en-GB" sz="1500" b="1" i="0" dirty="0">
                <a:solidFill>
                  <a:srgbClr val="FFFFFF"/>
                </a:solidFill>
                <a:effectLst/>
                <a:latin typeface="Söhne"/>
              </a:rPr>
              <a:t>Interactive Histogram  Age Distribution: </a:t>
            </a:r>
            <a:r>
              <a:rPr lang="en-GB" sz="1500" b="0" i="0" dirty="0">
                <a:solidFill>
                  <a:srgbClr val="FFFFFF"/>
                </a:solidFill>
                <a:effectLst/>
                <a:latin typeface="Söhne"/>
              </a:rPr>
              <a:t>By displaying the age distribution of your dataset, this could serve as an introduction visualisation, providing </a:t>
            </a:r>
            <a:r>
              <a:rPr lang="en-GB" sz="1500" b="0" i="0" dirty="0" err="1">
                <a:solidFill>
                  <a:srgbClr val="FFFFFF"/>
                </a:solidFill>
                <a:effectLst/>
                <a:latin typeface="Söhne"/>
              </a:rPr>
              <a:t>context.Fundamental</a:t>
            </a:r>
            <a:r>
              <a:rPr lang="en-GB" sz="1500" b="0" i="0" dirty="0">
                <a:solidFill>
                  <a:srgbClr val="FFFFFF"/>
                </a:solidFill>
                <a:effectLst/>
                <a:latin typeface="Söhne"/>
              </a:rPr>
              <a:t> understanding of the demographic distribution—a critical component in comprehending socioeconomic dynamics—would be possible with the help of this histogram.</a:t>
            </a:r>
          </a:p>
          <a:p>
            <a:pPr>
              <a:buFont typeface="Arial" panose="020B0604020202020204" pitchFamily="34" charset="0"/>
              <a:buChar char="•"/>
            </a:pPr>
            <a:r>
              <a:rPr lang="en-GB" sz="1500" b="1" i="0" dirty="0">
                <a:solidFill>
                  <a:srgbClr val="FFFFFF"/>
                </a:solidFill>
                <a:effectLst/>
                <a:latin typeface="Söhne"/>
              </a:rPr>
              <a:t>Interactive Boxplot: </a:t>
            </a:r>
            <a:r>
              <a:rPr lang="en-GB" sz="1500" b="0" i="0" dirty="0">
                <a:solidFill>
                  <a:srgbClr val="FFFFFF"/>
                </a:solidFill>
                <a:effectLst/>
                <a:latin typeface="Söhne"/>
              </a:rPr>
              <a:t>Distribution of Income according to Education Level After the 3D Scatter Plot of Age, Income, and Education Level, arrange this visualisation. The boxplot will provide a more thorough understanding of how income fluctuates across various educational levels, hence enhancing the scatter </a:t>
            </a:r>
            <a:r>
              <a:rPr lang="en-GB" sz="1500" b="0" i="0" dirty="0" err="1">
                <a:solidFill>
                  <a:srgbClr val="FFFFFF"/>
                </a:solidFill>
                <a:effectLst/>
                <a:latin typeface="Söhne"/>
              </a:rPr>
              <a:t>plot.It</a:t>
            </a:r>
            <a:r>
              <a:rPr lang="en-GB" sz="1500" b="0" i="0" dirty="0">
                <a:solidFill>
                  <a:srgbClr val="FFFFFF"/>
                </a:solidFill>
                <a:effectLst/>
                <a:latin typeface="Söhne"/>
              </a:rPr>
              <a:t> might be interpreted as a thorough examination of one of the features that the scatter plot emphasises.</a:t>
            </a:r>
          </a:p>
          <a:p>
            <a:pPr>
              <a:buFont typeface="Arial" panose="020B0604020202020204" pitchFamily="34" charset="0"/>
              <a:buChar char="•"/>
            </a:pPr>
            <a:r>
              <a:rPr lang="en-GB" sz="1500" b="1" i="0" dirty="0">
                <a:solidFill>
                  <a:srgbClr val="FFFFFF"/>
                </a:solidFill>
                <a:effectLst/>
                <a:latin typeface="Söhne"/>
              </a:rPr>
              <a:t>Interactive Stacked Area Chart: </a:t>
            </a:r>
            <a:r>
              <a:rPr lang="en-GB" sz="1500" b="0" i="0" dirty="0">
                <a:solidFill>
                  <a:srgbClr val="FFFFFF"/>
                </a:solidFill>
                <a:effectLst/>
                <a:latin typeface="Söhne"/>
              </a:rPr>
              <a:t>Distribution of Education Levels by Age Group This can be placed in front of the violin plot and bubble chart. The stacked area chart can help to advance the narrative by illustrating how educational attainment changes across different age groups, bringing another level of knowledge to the observed income differences, even though these maps highlight gender-based economic disparities.</a:t>
            </a:r>
          </a:p>
          <a:p>
            <a:pPr marL="0" indent="0">
              <a:buNone/>
            </a:pPr>
            <a:r>
              <a:rPr lang="en-GB" sz="1500" b="0" i="0" dirty="0">
                <a:solidFill>
                  <a:srgbClr val="FFFFFF"/>
                </a:solidFill>
                <a:effectLst/>
                <a:latin typeface="Söhne"/>
              </a:rPr>
              <a:t>However, as Kelleher and Wagener (2018) caution, our dataset has limitations, such as static views and binary gender representations that fall short of capturing the full dynamism of socioeconomic status. These visual narratives, rich in data, are indicative trends, not definitive truths.</a:t>
            </a:r>
          </a:p>
        </p:txBody>
      </p:sp>
    </p:spTree>
    <p:extLst>
      <p:ext uri="{BB962C8B-B14F-4D97-AF65-F5344CB8AC3E}">
        <p14:creationId xmlns:p14="http://schemas.microsoft.com/office/powerpoint/2010/main" val="2326481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2F36CA75-CFBF-4844-B719-8FE9EBADA9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3D4A84B9-E564-4DD0-97F8-DBF1C460C2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02382E0-0A09-46AE-B955-B911CAFE7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7DE75D4A-0965-4973-BE75-DECCAC9A9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7" name="Picture 36">
            <a:extLst>
              <a:ext uri="{FF2B5EF4-FFF2-40B4-BE49-F238E27FC236}">
                <a16:creationId xmlns:a16="http://schemas.microsoft.com/office/drawing/2014/main" id="{4A599609-F5C2-4A0B-A992-913F814A63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40000"/>
            <a:extLst>
              <a:ext uri="{28A0092B-C50C-407E-A947-70E740481C1C}">
                <a14:useLocalDpi xmlns:a14="http://schemas.microsoft.com/office/drawing/2010/main" val="0"/>
              </a:ext>
            </a:extLst>
          </a:blip>
          <a:stretch>
            <a:fillRect/>
          </a:stretch>
        </p:blipFill>
        <p:spPr>
          <a:xfrm>
            <a:off x="5414" y="0"/>
            <a:ext cx="12181172" cy="6858000"/>
          </a:xfrm>
          <a:prstGeom prst="rect">
            <a:avLst/>
          </a:prstGeom>
        </p:spPr>
      </p:pic>
      <p:pic>
        <p:nvPicPr>
          <p:cNvPr id="16" name="Picture 15">
            <a:extLst>
              <a:ext uri="{FF2B5EF4-FFF2-40B4-BE49-F238E27FC236}">
                <a16:creationId xmlns:a16="http://schemas.microsoft.com/office/drawing/2014/main" id="{B9FCEC4F-AB43-19A3-1DEB-2619919187D9}"/>
              </a:ext>
            </a:extLst>
          </p:cNvPr>
          <p:cNvPicPr>
            <a:picLocks noChangeAspect="1"/>
          </p:cNvPicPr>
          <p:nvPr/>
        </p:nvPicPr>
        <p:blipFill rotWithShape="1">
          <a:blip r:embed="rId3">
            <a:alphaModFix amt="60000"/>
          </a:blip>
          <a:srcRect r="-1" b="6226"/>
          <a:stretch/>
        </p:blipFill>
        <p:spPr>
          <a:xfrm>
            <a:off x="20" y="10"/>
            <a:ext cx="12188932" cy="6857990"/>
          </a:xfrm>
          <a:prstGeom prst="rect">
            <a:avLst/>
          </a:prstGeom>
        </p:spPr>
      </p:pic>
      <p:sp>
        <p:nvSpPr>
          <p:cNvPr id="2" name="Title 1">
            <a:extLst>
              <a:ext uri="{FF2B5EF4-FFF2-40B4-BE49-F238E27FC236}">
                <a16:creationId xmlns:a16="http://schemas.microsoft.com/office/drawing/2014/main" id="{A22405A2-83D7-E2B3-CE37-BE418F3E98E3}"/>
              </a:ext>
            </a:extLst>
          </p:cNvPr>
          <p:cNvSpPr>
            <a:spLocks noGrp="1"/>
          </p:cNvSpPr>
          <p:nvPr>
            <p:ph type="title"/>
          </p:nvPr>
        </p:nvSpPr>
        <p:spPr>
          <a:xfrm>
            <a:off x="1193549" y="314636"/>
            <a:ext cx="9801854" cy="647343"/>
          </a:xfrm>
        </p:spPr>
        <p:txBody>
          <a:bodyPr anchor="b">
            <a:normAutofit fontScale="90000"/>
          </a:bodyPr>
          <a:lstStyle/>
          <a:p>
            <a:pPr algn="ctr"/>
            <a:r>
              <a:rPr lang="en-US" sz="4800" dirty="0">
                <a:solidFill>
                  <a:srgbClr val="FFFFFF"/>
                </a:solidFill>
              </a:rPr>
              <a:t>Insights, patterns and perspectives</a:t>
            </a:r>
          </a:p>
        </p:txBody>
      </p:sp>
      <p:sp>
        <p:nvSpPr>
          <p:cNvPr id="3" name="Content Placeholder 2">
            <a:extLst>
              <a:ext uri="{FF2B5EF4-FFF2-40B4-BE49-F238E27FC236}">
                <a16:creationId xmlns:a16="http://schemas.microsoft.com/office/drawing/2014/main" id="{B621D0F8-948C-0446-916E-8F288C2E0A75}"/>
              </a:ext>
            </a:extLst>
          </p:cNvPr>
          <p:cNvSpPr>
            <a:spLocks noGrp="1"/>
          </p:cNvSpPr>
          <p:nvPr>
            <p:ph idx="1"/>
          </p:nvPr>
        </p:nvSpPr>
        <p:spPr>
          <a:xfrm>
            <a:off x="244549" y="1371600"/>
            <a:ext cx="11557591" cy="5092995"/>
          </a:xfrm>
        </p:spPr>
        <p:txBody>
          <a:bodyPr numCol="3" spcCol="180000" anchor="t">
            <a:noAutofit/>
          </a:bodyPr>
          <a:lstStyle/>
          <a:p>
            <a:pPr marL="0" indent="0">
              <a:buNone/>
            </a:pPr>
            <a:r>
              <a:rPr lang="en-GB" sz="900" b="1" i="0" dirty="0">
                <a:solidFill>
                  <a:srgbClr val="FFFFFF"/>
                </a:solidFill>
                <a:effectLst/>
                <a:latin typeface="-apple-system"/>
              </a:rPr>
              <a:t>Diverse Sociodemographic Insights Through Interactive Visualizations</a:t>
            </a:r>
            <a:endParaRPr lang="en-GB" sz="900" b="0" i="0" dirty="0">
              <a:solidFill>
                <a:srgbClr val="FFFFFF"/>
              </a:solidFill>
              <a:effectLst/>
              <a:latin typeface="-apple-system"/>
            </a:endParaRPr>
          </a:p>
          <a:p>
            <a:pPr marL="0" indent="0">
              <a:buNone/>
            </a:pPr>
            <a:r>
              <a:rPr lang="en-GB" sz="900" b="0" i="0" dirty="0">
                <a:solidFill>
                  <a:srgbClr val="FFFFFF"/>
                </a:solidFill>
                <a:effectLst/>
                <a:latin typeface="-apple-system"/>
              </a:rPr>
              <a:t>Through a succession of interactive visualisations, each presenting a different aspect of the data and enabling viewers to explore into the details of the material given, our examination of socioeconomic patterns takes shape.</a:t>
            </a:r>
          </a:p>
          <a:p>
            <a:pPr marL="0" indent="0">
              <a:buNone/>
            </a:pPr>
            <a:r>
              <a:rPr lang="en-GB" sz="900" b="1" i="0" dirty="0">
                <a:solidFill>
                  <a:srgbClr val="FFFFFF"/>
                </a:solidFill>
                <a:effectLst/>
                <a:latin typeface="-apple-system"/>
              </a:rPr>
              <a:t>Introduction</a:t>
            </a:r>
            <a:endParaRPr lang="en-GB" sz="900" b="0" i="0" dirty="0">
              <a:solidFill>
                <a:srgbClr val="FFFFFF"/>
              </a:solidFill>
              <a:effectLst/>
              <a:latin typeface="-apple-system"/>
            </a:endParaRPr>
          </a:p>
          <a:p>
            <a:pPr marL="0" indent="0">
              <a:buNone/>
            </a:pPr>
            <a:r>
              <a:rPr lang="en-GB" sz="900" b="0" i="0" dirty="0">
                <a:solidFill>
                  <a:srgbClr val="FFFFFF"/>
                </a:solidFill>
                <a:effectLst/>
                <a:latin typeface="-apple-system"/>
              </a:rPr>
              <a:t>Data visualisation is essential in the digital age for understanding complex information. Ways that we present and analyse data have been revolutionised by pioneers such as Cairo, Tufte, and Wickham. This paper examines ten interactive visualisations and evaluates how well they represent economic and demographic data. To assess each visualization's communicative effectiveness and conformance to accepted visualisation principles, it is evaluated against the backdrop of influential works in the area.</a:t>
            </a:r>
          </a:p>
          <a:p>
            <a:pPr marL="0" indent="0">
              <a:buNone/>
            </a:pPr>
            <a:r>
              <a:rPr lang="en-GB" sz="900" b="1" i="0" dirty="0">
                <a:solidFill>
                  <a:srgbClr val="FFFFFF"/>
                </a:solidFill>
                <a:effectLst/>
                <a:latin typeface="-apple-system"/>
              </a:rPr>
              <a:t>Visualization 1: Interactive 3D Scatter Plot of Age, Income, and Education Level</a:t>
            </a:r>
            <a:endParaRPr lang="en-GB" sz="900" b="0" i="0" dirty="0">
              <a:solidFill>
                <a:srgbClr val="FFFFFF"/>
              </a:solidFill>
              <a:effectLst/>
              <a:latin typeface="-apple-system"/>
            </a:endParaRPr>
          </a:p>
          <a:p>
            <a:pPr>
              <a:buFont typeface="Arial" panose="020B0604020202020204" pitchFamily="34" charset="0"/>
              <a:buChar char="•"/>
            </a:pPr>
            <a:r>
              <a:rPr lang="en-GB" sz="900" b="0" i="0" dirty="0">
                <a:solidFill>
                  <a:srgbClr val="FFFFFF"/>
                </a:solidFill>
                <a:effectLst/>
                <a:latin typeface="-apple-system"/>
              </a:rPr>
              <a:t>A three-dimensional tour of the main socioeconomic factors is provided by this plot. Rotating the perspective allows users to observe how society structure is created by factors such as age, income, and education level, with each data point acting as a beacon indicating a different story inside the greater narrative. Use interactivity to analyse multivariate datasets, keeping in mind Cairo's focus on the practicality of art. According to Tufte, 3D scatter plots with parallel coordinates reveal data complexity without being too overwhelming for the viewer.</a:t>
            </a:r>
          </a:p>
          <a:p>
            <a:pPr marL="0" indent="0">
              <a:buNone/>
            </a:pPr>
            <a:r>
              <a:rPr lang="en-GB" sz="900" b="1" i="0" dirty="0">
                <a:solidFill>
                  <a:srgbClr val="FFFFFF"/>
                </a:solidFill>
                <a:effectLst/>
                <a:latin typeface="-apple-system"/>
              </a:rPr>
              <a:t>Visualization 2: Interactive Bubble Chart of Income vs. Age by Gender</a:t>
            </a:r>
            <a:endParaRPr lang="en-GB" sz="900" b="0" i="0" dirty="0">
              <a:solidFill>
                <a:srgbClr val="FFFFFF"/>
              </a:solidFill>
              <a:effectLst/>
              <a:latin typeface="-apple-system"/>
            </a:endParaRPr>
          </a:p>
          <a:p>
            <a:pPr>
              <a:buFont typeface="Arial" panose="020B0604020202020204" pitchFamily="34" charset="0"/>
              <a:buChar char="•"/>
            </a:pPr>
            <a:r>
              <a:rPr lang="en-GB" sz="900" b="0" i="0" dirty="0">
                <a:solidFill>
                  <a:srgbClr val="FFFFFF"/>
                </a:solidFill>
                <a:effectLst/>
                <a:latin typeface="-apple-system"/>
              </a:rPr>
              <a:t>Here, the differences in income between genders in various age groups are highlighted. A dynamic picture of the intersectionality between these variables is given by the size and location of each bubble, which sheds light on the ways in which income paths diverge and converge over the course of a lifetime. Represent </a:t>
            </a:r>
            <a:r>
              <a:rPr lang="en-GB" sz="900" b="0" i="0" dirty="0" err="1">
                <a:solidFill>
                  <a:srgbClr val="FFFFFF"/>
                </a:solidFill>
                <a:effectLst/>
                <a:latin typeface="-apple-system"/>
              </a:rPr>
              <a:t>Few's</a:t>
            </a:r>
            <a:r>
              <a:rPr lang="en-GB" sz="900" b="0" i="0" dirty="0">
                <a:solidFill>
                  <a:srgbClr val="FFFFFF"/>
                </a:solidFill>
                <a:effectLst/>
                <a:latin typeface="-apple-system"/>
              </a:rPr>
              <a:t> ideas of simplicity by employing stacked and bubble bar charts to effectively illustrate relationships between gender and wealth differences.</a:t>
            </a:r>
          </a:p>
          <a:p>
            <a:pPr marL="0" indent="0">
              <a:buNone/>
            </a:pPr>
            <a:endParaRPr lang="en-GB" sz="900" b="1" i="0" dirty="0">
              <a:solidFill>
                <a:srgbClr val="FFFFFF"/>
              </a:solidFill>
              <a:effectLst/>
              <a:latin typeface="-apple-system"/>
            </a:endParaRPr>
          </a:p>
          <a:p>
            <a:pPr marL="0" indent="0">
              <a:buNone/>
            </a:pPr>
            <a:r>
              <a:rPr lang="en-GB" sz="900" b="1" i="0" dirty="0">
                <a:solidFill>
                  <a:srgbClr val="FFFFFF"/>
                </a:solidFill>
                <a:effectLst/>
                <a:latin typeface="-apple-system"/>
              </a:rPr>
              <a:t>Visualization 3: Interactive Heatmap of Income Distribution by Ethnicity and Education</a:t>
            </a:r>
            <a:endParaRPr lang="en-GB" sz="900" b="0" i="0" dirty="0">
              <a:solidFill>
                <a:srgbClr val="FFFFFF"/>
              </a:solidFill>
              <a:effectLst/>
              <a:latin typeface="-apple-system"/>
            </a:endParaRPr>
          </a:p>
          <a:p>
            <a:pPr>
              <a:buFont typeface="Arial" panose="020B0604020202020204" pitchFamily="34" charset="0"/>
              <a:buChar char="•"/>
            </a:pPr>
            <a:r>
              <a:rPr lang="en-GB" sz="900" b="0" i="0" dirty="0">
                <a:solidFill>
                  <a:srgbClr val="FFFFFF"/>
                </a:solidFill>
                <a:effectLst/>
                <a:latin typeface="-apple-system"/>
              </a:rPr>
              <a:t>This heatmap uses education and ethnicity as its axes to show a colourful array of income distribution. The concentration of income levels is reflected in the colour intensity, creating a striking image of social inequality. Uses a heatmap to depict the distribution of income, a method Dent approves of since it effectively correlates ethnicity and education through a spatial metaphor of data landscapes.</a:t>
            </a:r>
          </a:p>
          <a:p>
            <a:pPr marL="0" indent="0">
              <a:buNone/>
            </a:pPr>
            <a:r>
              <a:rPr lang="en-GB" sz="900" b="1" i="0" dirty="0">
                <a:solidFill>
                  <a:srgbClr val="FFFFFF"/>
                </a:solidFill>
                <a:effectLst/>
                <a:latin typeface="-apple-system"/>
              </a:rPr>
              <a:t>Visualization 4: Interactive Donut Chart - Marital Status Distribution</a:t>
            </a:r>
            <a:endParaRPr lang="en-GB" sz="900" b="0" i="0" dirty="0">
              <a:solidFill>
                <a:srgbClr val="FFFFFF"/>
              </a:solidFill>
              <a:effectLst/>
              <a:latin typeface="-apple-system"/>
            </a:endParaRPr>
          </a:p>
          <a:p>
            <a:pPr>
              <a:buFont typeface="Arial" panose="020B0604020202020204" pitchFamily="34" charset="0"/>
              <a:buChar char="•"/>
            </a:pPr>
            <a:r>
              <a:rPr lang="en-GB" sz="900" b="0" i="0" dirty="0">
                <a:solidFill>
                  <a:srgbClr val="FFFFFF"/>
                </a:solidFill>
                <a:effectLst/>
                <a:latin typeface="-apple-system"/>
              </a:rPr>
              <a:t>By dividing the population into marital status categories, the donut chart highlights the patterns and percentages that characterise contemporary social structures. Users can delve further into each section for more specific information thanks to interaction. Kelleher and Wagener defend the donut chart, despite its frequent controversy, for its space-efficient representation of the proportions of marital status.</a:t>
            </a:r>
          </a:p>
          <a:p>
            <a:pPr marL="0" indent="0">
              <a:buNone/>
            </a:pPr>
            <a:r>
              <a:rPr lang="en-GB" sz="900" b="1" i="0" dirty="0">
                <a:solidFill>
                  <a:srgbClr val="FFFFFF"/>
                </a:solidFill>
                <a:effectLst/>
                <a:latin typeface="-apple-system"/>
              </a:rPr>
              <a:t>Visualization 5: Interactive Stacked Bar Chart - Income Distribution by Marital Status and Gender</a:t>
            </a:r>
            <a:endParaRPr lang="en-GB" sz="900" b="0" i="0" dirty="0">
              <a:solidFill>
                <a:srgbClr val="FFFFFF"/>
              </a:solidFill>
              <a:effectLst/>
              <a:latin typeface="-apple-system"/>
            </a:endParaRPr>
          </a:p>
          <a:p>
            <a:pPr>
              <a:buFont typeface="Arial" panose="020B0604020202020204" pitchFamily="34" charset="0"/>
              <a:buChar char="•"/>
            </a:pPr>
            <a:r>
              <a:rPr lang="en-GB" sz="900" b="0" i="0" dirty="0">
                <a:solidFill>
                  <a:srgbClr val="FFFFFF"/>
                </a:solidFill>
                <a:effectLst/>
                <a:latin typeface="-apple-system"/>
              </a:rPr>
              <a:t>The stacked bars further break down the income distribution by overlaying marital status and gender to show how these characteristics interact to create various income categories.</a:t>
            </a:r>
          </a:p>
          <a:p>
            <a:pPr marL="0" indent="0">
              <a:buNone/>
            </a:pPr>
            <a:r>
              <a:rPr lang="en-GB" sz="900" b="1" i="0" dirty="0">
                <a:solidFill>
                  <a:srgbClr val="FFFFFF"/>
                </a:solidFill>
                <a:effectLst/>
                <a:latin typeface="-apple-system"/>
              </a:rPr>
              <a:t>Visualization 6: Interactive Histogram - Age Distribution</a:t>
            </a:r>
            <a:endParaRPr lang="en-GB" sz="900" b="0" i="0" dirty="0">
              <a:solidFill>
                <a:srgbClr val="FFFFFF"/>
              </a:solidFill>
              <a:effectLst/>
              <a:latin typeface="-apple-system"/>
            </a:endParaRPr>
          </a:p>
          <a:p>
            <a:pPr>
              <a:buFont typeface="Arial" panose="020B0604020202020204" pitchFamily="34" charset="0"/>
              <a:buChar char="•"/>
            </a:pPr>
            <a:r>
              <a:rPr lang="en-GB" sz="900" b="0" i="0" dirty="0">
                <a:solidFill>
                  <a:srgbClr val="FFFFFF"/>
                </a:solidFill>
                <a:effectLst/>
                <a:latin typeface="-apple-system"/>
              </a:rPr>
              <a:t>A detailed look at the demographic profile is provided by an age distribution histogram, which is crucial for comprehending and making plans for the population's present and future needs. In keeping with </a:t>
            </a:r>
            <a:r>
              <a:rPr lang="en-GB" sz="900" b="0" i="0" dirty="0" err="1">
                <a:solidFill>
                  <a:srgbClr val="FFFFFF"/>
                </a:solidFill>
                <a:effectLst/>
                <a:latin typeface="-apple-system"/>
              </a:rPr>
              <a:t>Knaflic's</a:t>
            </a:r>
            <a:r>
              <a:rPr lang="en-GB" sz="900" b="0" i="0" dirty="0">
                <a:solidFill>
                  <a:srgbClr val="FFFFFF"/>
                </a:solidFill>
                <a:effectLst/>
                <a:latin typeface="-apple-system"/>
              </a:rPr>
              <a:t> storytelling with data methodology, the histogram makes age distribution analysis easier to understand while maintaining insight.</a:t>
            </a:r>
          </a:p>
          <a:p>
            <a:pPr marL="0" indent="0">
              <a:buNone/>
            </a:pPr>
            <a:r>
              <a:rPr lang="en-GB" sz="900" b="1" i="0" dirty="0">
                <a:solidFill>
                  <a:srgbClr val="FFFFFF"/>
                </a:solidFill>
                <a:effectLst/>
                <a:latin typeface="-apple-system"/>
              </a:rPr>
              <a:t>Visualization 7: Interactive Parallel Coordinates Plot - Multivariate Analysis</a:t>
            </a:r>
            <a:endParaRPr lang="en-GB" sz="900" b="0" i="0" dirty="0">
              <a:solidFill>
                <a:srgbClr val="FFFFFF"/>
              </a:solidFill>
              <a:effectLst/>
              <a:latin typeface="-apple-system"/>
            </a:endParaRPr>
          </a:p>
          <a:p>
            <a:pPr>
              <a:buFont typeface="Arial" panose="020B0604020202020204" pitchFamily="34" charset="0"/>
              <a:buChar char="•"/>
            </a:pPr>
            <a:r>
              <a:rPr lang="en-GB" sz="900" b="0" i="0" dirty="0">
                <a:solidFill>
                  <a:srgbClr val="FFFFFF"/>
                </a:solidFill>
                <a:effectLst/>
                <a:latin typeface="-apple-system"/>
              </a:rPr>
              <a:t>By tracing numerous socioeconomic indicators at once using parallel coordinates, users can uncover intricate correlations and patterns that may be missed in less dynamic representations.</a:t>
            </a:r>
          </a:p>
          <a:p>
            <a:pPr marL="0" indent="0">
              <a:buNone/>
            </a:pPr>
            <a:endParaRPr lang="en-GB" sz="900" b="1" i="0" dirty="0">
              <a:solidFill>
                <a:srgbClr val="FFFFFF"/>
              </a:solidFill>
              <a:effectLst/>
              <a:latin typeface="-apple-system"/>
            </a:endParaRPr>
          </a:p>
          <a:p>
            <a:pPr marL="0" indent="0">
              <a:buNone/>
            </a:pPr>
            <a:r>
              <a:rPr lang="en-GB" sz="900" b="1" i="0" dirty="0">
                <a:solidFill>
                  <a:srgbClr val="FFFFFF"/>
                </a:solidFill>
                <a:effectLst/>
                <a:latin typeface="-apple-system"/>
              </a:rPr>
              <a:t>Visualization 8: Interactive Area Plot - Income Distribution Over Age</a:t>
            </a:r>
            <a:endParaRPr lang="en-GB" sz="900" b="0" i="0" dirty="0">
              <a:solidFill>
                <a:srgbClr val="FFFFFF"/>
              </a:solidFill>
              <a:effectLst/>
              <a:latin typeface="-apple-system"/>
            </a:endParaRPr>
          </a:p>
          <a:p>
            <a:pPr>
              <a:buFont typeface="Arial" panose="020B0604020202020204" pitchFamily="34" charset="0"/>
              <a:buChar char="•"/>
            </a:pPr>
            <a:r>
              <a:rPr lang="en-GB" sz="900" b="0" i="0" dirty="0">
                <a:solidFill>
                  <a:srgbClr val="FFFFFF"/>
                </a:solidFill>
                <a:effectLst/>
                <a:latin typeface="-apple-system"/>
              </a:rPr>
              <a:t>The area map shows the distribution of income among age groups, highlighting significant phases of economic growth and possible stagnation. It also depicts the lifespan of wages. Area plot, which maps income distribution over age with beauty and precision, pays homage to Wickham's exquisite ggplot2 aesthetics.</a:t>
            </a:r>
          </a:p>
          <a:p>
            <a:pPr marL="0" indent="0">
              <a:buNone/>
            </a:pPr>
            <a:r>
              <a:rPr lang="en-GB" sz="900" b="1" i="0" dirty="0">
                <a:solidFill>
                  <a:srgbClr val="FFFFFF"/>
                </a:solidFill>
                <a:effectLst/>
                <a:latin typeface="-apple-system"/>
              </a:rPr>
              <a:t>Visualization 9: Interactive Boxplot - Income Distribution by Education Level</a:t>
            </a:r>
            <a:endParaRPr lang="en-GB" sz="900" b="0" i="0" dirty="0">
              <a:solidFill>
                <a:srgbClr val="FFFFFF"/>
              </a:solidFill>
              <a:effectLst/>
              <a:latin typeface="-apple-system"/>
            </a:endParaRPr>
          </a:p>
          <a:p>
            <a:pPr>
              <a:buFont typeface="Arial" panose="020B0604020202020204" pitchFamily="34" charset="0"/>
              <a:buChar char="•"/>
            </a:pPr>
            <a:r>
              <a:rPr lang="en-GB" sz="900" b="0" i="0" dirty="0">
                <a:solidFill>
                  <a:srgbClr val="FFFFFF"/>
                </a:solidFill>
                <a:effectLst/>
                <a:latin typeface="-apple-system"/>
              </a:rPr>
              <a:t>A statistical representation of the relationship between education level and income distribution can be obtained from a boxplot, where the range and interquartile spread of wages are indicated by boxes and whiskers. Income by education is highlighted with a boxplot, which demonstrates the analytical depth that </a:t>
            </a:r>
            <a:r>
              <a:rPr lang="en-GB" sz="900" b="0" i="0" dirty="0" err="1">
                <a:solidFill>
                  <a:srgbClr val="FFFFFF"/>
                </a:solidFill>
                <a:effectLst/>
                <a:latin typeface="-apple-system"/>
              </a:rPr>
              <a:t>Heer</a:t>
            </a:r>
            <a:r>
              <a:rPr lang="en-GB" sz="900" b="0" i="0" dirty="0">
                <a:solidFill>
                  <a:srgbClr val="FFFFFF"/>
                </a:solidFill>
                <a:effectLst/>
                <a:latin typeface="-apple-system"/>
              </a:rPr>
              <a:t> and Bostock valued and offers quick visual signals to data variation and distribution.</a:t>
            </a:r>
          </a:p>
          <a:p>
            <a:pPr marL="0" indent="0">
              <a:buNone/>
            </a:pPr>
            <a:r>
              <a:rPr lang="en-GB" sz="900" b="1" i="0" dirty="0">
                <a:solidFill>
                  <a:srgbClr val="FFFFFF"/>
                </a:solidFill>
                <a:effectLst/>
                <a:latin typeface="-apple-system"/>
              </a:rPr>
              <a:t>Visualization 10: Interactive Stacked Area Chart - Education Level Distribution by Age Group</a:t>
            </a:r>
            <a:endParaRPr lang="en-GB" sz="900" b="0" i="0" dirty="0">
              <a:solidFill>
                <a:srgbClr val="FFFFFF"/>
              </a:solidFill>
              <a:effectLst/>
              <a:latin typeface="-apple-system"/>
            </a:endParaRPr>
          </a:p>
          <a:p>
            <a:pPr>
              <a:buFont typeface="Arial" panose="020B0604020202020204" pitchFamily="34" charset="0"/>
              <a:buChar char="•"/>
            </a:pPr>
            <a:r>
              <a:rPr lang="en-GB" sz="900" b="0" i="0" dirty="0">
                <a:solidFill>
                  <a:srgbClr val="FFFFFF"/>
                </a:solidFill>
                <a:effectLst/>
                <a:latin typeface="-apple-system"/>
              </a:rPr>
              <a:t>The distribution of education levels across age groups is finally broken down in the stacked area chart, which offers insights into the geography of educational attainment throughout time.</a:t>
            </a:r>
          </a:p>
          <a:p>
            <a:pPr>
              <a:buFont typeface="Arial" panose="020B0604020202020204" pitchFamily="34" charset="0"/>
              <a:buChar char="•"/>
            </a:pPr>
            <a:endParaRPr lang="en-GB" sz="900" b="0" i="0" dirty="0">
              <a:solidFill>
                <a:srgbClr val="FFFFFF"/>
              </a:solidFill>
              <a:effectLst/>
              <a:latin typeface="-apple-system"/>
            </a:endParaRPr>
          </a:p>
          <a:p>
            <a:pPr marL="0" indent="0">
              <a:buNone/>
            </a:pPr>
            <a:r>
              <a:rPr lang="en-GB" sz="900" b="0" i="0" dirty="0">
                <a:solidFill>
                  <a:srgbClr val="FFFFFF"/>
                </a:solidFill>
                <a:effectLst/>
                <a:latin typeface="-apple-system"/>
              </a:rPr>
              <a:t>The assessed visualisations show a deep regard for the guidelines provided by the cited authors. They provide a deeper understanding and a richer narrative by not only making difficult data easier to interpret but also making it easier to identify patterns and outliers. The ultimate purpose of data visualization—to inform and enlighten—is achieved by the harmonious combination of interactive features and fundamental visualisation principles, which efficiently bridges the gap between data complexity and analytical insight.</a:t>
            </a:r>
          </a:p>
        </p:txBody>
      </p:sp>
    </p:spTree>
    <p:extLst>
      <p:ext uri="{BB962C8B-B14F-4D97-AF65-F5344CB8AC3E}">
        <p14:creationId xmlns:p14="http://schemas.microsoft.com/office/powerpoint/2010/main" val="1149696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hite calculator">
            <a:extLst>
              <a:ext uri="{FF2B5EF4-FFF2-40B4-BE49-F238E27FC236}">
                <a16:creationId xmlns:a16="http://schemas.microsoft.com/office/drawing/2014/main" id="{2D326B35-4CEE-1290-EF05-1E4363110A80}"/>
              </a:ext>
            </a:extLst>
          </p:cNvPr>
          <p:cNvPicPr>
            <a:picLocks noChangeAspect="1"/>
          </p:cNvPicPr>
          <p:nvPr/>
        </p:nvPicPr>
        <p:blipFill rotWithShape="1">
          <a:blip r:embed="rId2">
            <a:alphaModFix amt="35000"/>
          </a:blip>
          <a:srcRect b="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6E221399-3F1C-83E3-9428-67594375114C}"/>
              </a:ext>
            </a:extLst>
          </p:cNvPr>
          <p:cNvSpPr>
            <a:spLocks noGrp="1"/>
          </p:cNvSpPr>
          <p:nvPr>
            <p:ph type="title"/>
          </p:nvPr>
        </p:nvSpPr>
        <p:spPr>
          <a:xfrm>
            <a:off x="838200" y="365125"/>
            <a:ext cx="10515600" cy="1325563"/>
          </a:xfrm>
        </p:spPr>
        <p:txBody>
          <a:bodyPr>
            <a:normAutofit/>
          </a:bodyPr>
          <a:lstStyle/>
          <a:p>
            <a:r>
              <a:rPr lang="en-US" dirty="0">
                <a:solidFill>
                  <a:srgbClr val="FFFFFF"/>
                </a:solidFill>
              </a:rPr>
              <a:t>Key findings</a:t>
            </a:r>
          </a:p>
        </p:txBody>
      </p:sp>
      <p:sp>
        <p:nvSpPr>
          <p:cNvPr id="3" name="Content Placeholder 2">
            <a:extLst>
              <a:ext uri="{FF2B5EF4-FFF2-40B4-BE49-F238E27FC236}">
                <a16:creationId xmlns:a16="http://schemas.microsoft.com/office/drawing/2014/main" id="{A0A92BD1-8F28-3780-1F29-47F5478DC756}"/>
              </a:ext>
            </a:extLst>
          </p:cNvPr>
          <p:cNvSpPr>
            <a:spLocks noGrp="1"/>
          </p:cNvSpPr>
          <p:nvPr>
            <p:ph idx="1"/>
          </p:nvPr>
        </p:nvSpPr>
        <p:spPr>
          <a:xfrm>
            <a:off x="838200" y="1825625"/>
            <a:ext cx="10515600" cy="4351338"/>
          </a:xfrm>
        </p:spPr>
        <p:txBody>
          <a:bodyPr>
            <a:normAutofit/>
          </a:bodyPr>
          <a:lstStyle/>
          <a:p>
            <a:pPr marL="0" indent="0">
              <a:buNone/>
            </a:pPr>
            <a:r>
              <a:rPr lang="en-GB" sz="1300" dirty="0">
                <a:solidFill>
                  <a:srgbClr val="FFFFFF"/>
                </a:solidFill>
                <a:effectLst/>
                <a:latin typeface="Helvetica Neue" panose="02000503000000020004" pitchFamily="2" charset="0"/>
              </a:rPr>
              <a:t>Following an initial examination of the dataset, the following are some significant conclusions:</a:t>
            </a:r>
          </a:p>
          <a:p>
            <a:r>
              <a:rPr lang="en-GB" sz="1300" dirty="0">
                <a:solidFill>
                  <a:srgbClr val="FFFFFF"/>
                </a:solidFill>
                <a:effectLst/>
                <a:latin typeface="Helvetica Neue" panose="02000503000000020004" pitchFamily="2" charset="0"/>
              </a:rPr>
              <a:t>Age and Income: There are 27,410 items in the dataset, and their ages range from 0 to 93. About 36 years old is the average age. The average salary for the 21,237 entries in the income data—some of which may be missing—is roughly $27,766, and a large standard deviation suggests that there is a big variance. With a typical income of $18,000, incomes vary from $0 to $720,000.</a:t>
            </a:r>
          </a:p>
          <a:p>
            <a:r>
              <a:rPr lang="en-GB" sz="1300" dirty="0">
                <a:solidFill>
                  <a:srgbClr val="FFFFFF"/>
                </a:solidFill>
                <a:effectLst/>
                <a:latin typeface="Helvetica Neue" panose="02000503000000020004" pitchFamily="2" charset="0"/>
              </a:rPr>
              <a:t>Marital Status: Of the population, 54.75% are married, 26.36% have never married, 10.24% are divorced, 6.61% are widowed, and 2.05% are separated.</a:t>
            </a:r>
          </a:p>
          <a:p>
            <a:r>
              <a:rPr lang="en-GB" sz="1300" dirty="0">
                <a:solidFill>
                  <a:srgbClr val="FFFFFF"/>
                </a:solidFill>
                <a:effectLst/>
                <a:latin typeface="Helvetica Neue" panose="02000503000000020004" pitchFamily="2" charset="0"/>
              </a:rPr>
              <a:t>Gender: There is a virtually equal distribution of males and females (51.38% and 48.62%, respectively), which is helpful for performing a gender-based study within the socioeconomic environment. </a:t>
            </a:r>
          </a:p>
          <a:p>
            <a:r>
              <a:rPr lang="en-GB" sz="1300" dirty="0">
                <a:solidFill>
                  <a:srgbClr val="FFFFFF"/>
                </a:solidFill>
                <a:effectLst/>
                <a:latin typeface="Helvetica Neue" panose="02000503000000020004" pitchFamily="2" charset="0"/>
              </a:rPr>
              <a:t>Ethnicity: White people make up the majority (69.06%), followed by Asian people (12.94%), Black people (11.47%), Hispanic people (3.41%), and other people (3.11%).</a:t>
            </a:r>
          </a:p>
          <a:p>
            <a:r>
              <a:rPr lang="en-GB" sz="1300" dirty="0">
                <a:solidFill>
                  <a:srgbClr val="FFFFFF"/>
                </a:solidFill>
                <a:effectLst/>
                <a:latin typeface="Helvetica Neue" panose="02000503000000020004" pitchFamily="2" charset="0"/>
              </a:rPr>
              <a:t>Education Level: 39.22% of the persons in the dataset have never completed secondary school. 21.92% of the population is made up of graduates from secondary schools, 21.79% have some higher education (HE), 11.11% have a bachelor's degree, and 5.95% have a master's degree or above.</a:t>
            </a:r>
          </a:p>
          <a:p>
            <a:pPr marL="0" indent="0">
              <a:buNone/>
            </a:pPr>
            <a:r>
              <a:rPr lang="en-GB" sz="1300" dirty="0">
                <a:solidFill>
                  <a:srgbClr val="FFFFFF"/>
                </a:solidFill>
                <a:effectLst/>
                <a:latin typeface="Helvetica Neue" panose="02000503000000020004" pitchFamily="2" charset="0"/>
              </a:rPr>
              <a:t>These distributions offer an insight into the sociodemographic environment that the dataset captures. They show a range of educational backgrounds, nationalities, and marital circumstances. The great variation in salaries and how widely they are distributed point to economic inequalities that interactive visualisations might be used to further investigate.</a:t>
            </a:r>
          </a:p>
        </p:txBody>
      </p:sp>
    </p:spTree>
    <p:extLst>
      <p:ext uri="{BB962C8B-B14F-4D97-AF65-F5344CB8AC3E}">
        <p14:creationId xmlns:p14="http://schemas.microsoft.com/office/powerpoint/2010/main" val="300382978"/>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Complex maths formulae on a blackboard">
            <a:extLst>
              <a:ext uri="{FF2B5EF4-FFF2-40B4-BE49-F238E27FC236}">
                <a16:creationId xmlns:a16="http://schemas.microsoft.com/office/drawing/2014/main" id="{C2C9F3E7-879A-778D-0421-E021B0D3FD2D}"/>
              </a:ext>
            </a:extLst>
          </p:cNvPr>
          <p:cNvPicPr>
            <a:picLocks noChangeAspect="1"/>
          </p:cNvPicPr>
          <p:nvPr/>
        </p:nvPicPr>
        <p:blipFill rotWithShape="1">
          <a:blip r:embed="rId2">
            <a:alphaModFix amt="35000"/>
          </a:blip>
          <a:srcRect t="19506" b="3440"/>
          <a:stretch/>
        </p:blipFill>
        <p:spPr>
          <a:xfrm>
            <a:off x="0" y="-134292"/>
            <a:ext cx="12191980" cy="6857990"/>
          </a:xfrm>
          <a:prstGeom prst="rect">
            <a:avLst/>
          </a:prstGeom>
        </p:spPr>
      </p:pic>
      <p:sp>
        <p:nvSpPr>
          <p:cNvPr id="5" name="Title 1">
            <a:extLst>
              <a:ext uri="{FF2B5EF4-FFF2-40B4-BE49-F238E27FC236}">
                <a16:creationId xmlns:a16="http://schemas.microsoft.com/office/drawing/2014/main" id="{4551B221-FA32-7953-0439-5355B72A4063}"/>
              </a:ext>
            </a:extLst>
          </p:cNvPr>
          <p:cNvSpPr>
            <a:spLocks noGrp="1"/>
          </p:cNvSpPr>
          <p:nvPr>
            <p:ph type="title"/>
          </p:nvPr>
        </p:nvSpPr>
        <p:spPr>
          <a:xfrm>
            <a:off x="838200" y="134302"/>
            <a:ext cx="10515600" cy="1325563"/>
          </a:xfrm>
        </p:spPr>
        <p:txBody>
          <a:bodyPr vert="horz" lIns="91440" tIns="45720" rIns="91440" bIns="45720" rtlCol="0">
            <a:normAutofit/>
          </a:bodyPr>
          <a:lstStyle/>
          <a:p>
            <a:r>
              <a:rPr lang="en-US" dirty="0">
                <a:solidFill>
                  <a:srgbClr val="FFFFFF"/>
                </a:solidFill>
              </a:rPr>
              <a:t>Narrative and Critique</a:t>
            </a:r>
          </a:p>
        </p:txBody>
      </p:sp>
      <p:sp>
        <p:nvSpPr>
          <p:cNvPr id="6" name="Content Placeholder 2">
            <a:extLst>
              <a:ext uri="{FF2B5EF4-FFF2-40B4-BE49-F238E27FC236}">
                <a16:creationId xmlns:a16="http://schemas.microsoft.com/office/drawing/2014/main" id="{AE46BC6C-F9CF-94F1-4957-F276443637E9}"/>
              </a:ext>
            </a:extLst>
          </p:cNvPr>
          <p:cNvSpPr>
            <a:spLocks noGrp="1"/>
          </p:cNvSpPr>
          <p:nvPr>
            <p:ph idx="1"/>
          </p:nvPr>
        </p:nvSpPr>
        <p:spPr>
          <a:xfrm>
            <a:off x="838180" y="1253330"/>
            <a:ext cx="10515600" cy="5056029"/>
          </a:xfrm>
        </p:spPr>
        <p:txBody>
          <a:bodyPr numCol="2" spcCol="180000">
            <a:normAutofit fontScale="77500" lnSpcReduction="20000"/>
          </a:bodyPr>
          <a:lstStyle/>
          <a:p>
            <a:pPr marL="0" indent="0">
              <a:buNone/>
            </a:pPr>
            <a:r>
              <a:rPr lang="en-GB" sz="1300" b="1" i="0" u="sng" dirty="0">
                <a:solidFill>
                  <a:srgbClr val="FFFFFF"/>
                </a:solidFill>
                <a:effectLst/>
                <a:latin typeface="Söhne"/>
              </a:rPr>
              <a:t>The Narrative of Data – A Socio-Economic Exploration</a:t>
            </a:r>
            <a:endParaRPr lang="en-GB" sz="1300" b="0" i="0" u="sng" dirty="0">
              <a:solidFill>
                <a:srgbClr val="FFFFFF"/>
              </a:solidFill>
              <a:effectLst/>
              <a:latin typeface="Söhne"/>
            </a:endParaRPr>
          </a:p>
          <a:p>
            <a:r>
              <a:rPr lang="en-GB" sz="1300" b="1" i="0" dirty="0">
                <a:solidFill>
                  <a:srgbClr val="FFFFFF"/>
                </a:solidFill>
                <a:effectLst/>
                <a:latin typeface="Söhne"/>
              </a:rPr>
              <a:t>The Cartography of Socio-Economics: </a:t>
            </a:r>
            <a:r>
              <a:rPr lang="en-GB" sz="1300" b="0" i="0" dirty="0">
                <a:solidFill>
                  <a:srgbClr val="FFFFFF"/>
                </a:solidFill>
                <a:effectLst/>
                <a:latin typeface="Söhne"/>
              </a:rPr>
              <a:t>The wide expanse of socioeconomic data is where our analytical journey begins, analogous to a cartography masterpiece where the boundaries of societal standing are defined by age, money, and education. Our compass serves as the third dimension in an Interactive 3D Scatter Plot, allowing us to visualise Dent's (1999) lessons on cartographic design by projecting light and shadow onto our thematic map through charts and pixels. Cairo (2013) advises us to present data in a way that is not only accurate and understandable but also visually captivating and educational. Our journey takes us across the peaks of wealth and the valleys of poverty, a journey across a social rather than a physical terrain.</a:t>
            </a:r>
          </a:p>
          <a:p>
            <a:r>
              <a:rPr lang="en-GB" sz="1300" b="1" i="0" dirty="0">
                <a:solidFill>
                  <a:srgbClr val="FFFFFF"/>
                </a:solidFill>
                <a:effectLst/>
                <a:latin typeface="Söhne"/>
              </a:rPr>
              <a:t>Education as the Compass to Prosperity</a:t>
            </a:r>
            <a:r>
              <a:rPr lang="en-GB" sz="1300" b="0" i="0" dirty="0">
                <a:solidFill>
                  <a:srgbClr val="FFFFFF"/>
                </a:solidFill>
                <a:effectLst/>
                <a:latin typeface="Söhne"/>
              </a:rPr>
              <a:t> The Interactive Parallel Coordinates Plot in our story reveals the complex relationship between wealth and academic achievement. As a navigational aid, the visualisation shows the trajectory and gradient of an individual's socioeconomic rise, emulating Tufte's (2001) concept of "detailed visualisation of quantities," in which each line winds through the variables and becomes thicker with increasing educational attainment. However, this rise is not straight-line; rather, it fluctuates, mirroring </a:t>
            </a:r>
            <a:r>
              <a:rPr lang="en-GB" sz="1300" b="0" i="0" dirty="0" err="1">
                <a:solidFill>
                  <a:srgbClr val="FFFFFF"/>
                </a:solidFill>
                <a:effectLst/>
                <a:latin typeface="Söhne"/>
              </a:rPr>
              <a:t>Few's</a:t>
            </a:r>
            <a:r>
              <a:rPr lang="en-GB" sz="1300" b="0" i="0" dirty="0">
                <a:solidFill>
                  <a:srgbClr val="FFFFFF"/>
                </a:solidFill>
                <a:effectLst/>
                <a:latin typeface="Söhne"/>
              </a:rPr>
              <a:t> (2009) observations on the visualisation of numerical data and illuminating the complex relationship between social status and education.</a:t>
            </a:r>
          </a:p>
          <a:p>
            <a:r>
              <a:rPr lang="en-GB" sz="1300" b="1" i="0" dirty="0">
                <a:solidFill>
                  <a:srgbClr val="FFFFFF"/>
                </a:solidFill>
                <a:effectLst/>
                <a:latin typeface="Söhne"/>
              </a:rPr>
              <a:t>The Gender Disparity Narrative</a:t>
            </a:r>
            <a:r>
              <a:rPr lang="en-GB" sz="1300" b="0" i="0" dirty="0">
                <a:solidFill>
                  <a:srgbClr val="FFFFFF"/>
                </a:solidFill>
                <a:effectLst/>
                <a:latin typeface="Söhne"/>
              </a:rPr>
              <a:t> A moving story is told through an Interactive Bubble Chart of Income vs Age by Gender. The gender pay gap is a hotly debated topic that is visually represented as a lifespan with peaks and troughs, progression and plateau. The focus placed by </a:t>
            </a:r>
            <a:r>
              <a:rPr lang="en-GB" sz="1300" b="0" i="0" dirty="0" err="1">
                <a:solidFill>
                  <a:srgbClr val="FFFFFF"/>
                </a:solidFill>
                <a:effectLst/>
                <a:latin typeface="Söhne"/>
              </a:rPr>
              <a:t>Heer</a:t>
            </a:r>
            <a:r>
              <a:rPr lang="en-GB" sz="1300" b="0" i="0" dirty="0">
                <a:solidFill>
                  <a:srgbClr val="FFFFFF"/>
                </a:solidFill>
                <a:effectLst/>
                <a:latin typeface="Söhne"/>
              </a:rPr>
              <a:t> and Bostock (2010) on the use of declarative language in visualisation allows us to highlight the significant differences between the economic paths of men and women. With its diverging and convergent trajectories, the chart depicts a history of systemic gender disparity through two distinct stories of income crests.</a:t>
            </a:r>
          </a:p>
          <a:p>
            <a:r>
              <a:rPr lang="en-GB" sz="1300" b="1" i="0" dirty="0">
                <a:solidFill>
                  <a:srgbClr val="FFFFFF"/>
                </a:solidFill>
                <a:effectLst/>
                <a:latin typeface="Söhne"/>
              </a:rPr>
              <a:t>Ethnicity at the Economic </a:t>
            </a:r>
            <a:r>
              <a:rPr lang="en-GB" sz="1300" b="1" i="0" dirty="0" err="1">
                <a:solidFill>
                  <a:srgbClr val="FFFFFF"/>
                </a:solidFill>
                <a:effectLst/>
                <a:latin typeface="Söhne"/>
              </a:rPr>
              <a:t>Crossroads</a:t>
            </a:r>
            <a:r>
              <a:rPr lang="en-GB" sz="1300" b="0" i="0" dirty="0" err="1">
                <a:solidFill>
                  <a:srgbClr val="FFFFFF"/>
                </a:solidFill>
                <a:effectLst/>
                <a:latin typeface="Söhne"/>
              </a:rPr>
              <a:t>Stories</a:t>
            </a:r>
            <a:r>
              <a:rPr lang="en-GB" sz="1300" b="0" i="0" dirty="0">
                <a:solidFill>
                  <a:srgbClr val="FFFFFF"/>
                </a:solidFill>
                <a:effectLst/>
                <a:latin typeface="Söhne"/>
              </a:rPr>
              <a:t> of inequality abound in the Interactive Heatmap of Income Distribution, which sits at the intersection of ethnicity and research. Wickham (2016) makes a significant contribution here, since our story is based on his idea of beautiful visualisations for data analysis. The heatmap is more than just a statistical plot; it's a silent conversation about the structural roots of socioeconomic inequality. It illustrates the intersection where education and ethnicity drive economic growth for some and serve as a narrow channel of wealth transfer for others.</a:t>
            </a:r>
          </a:p>
          <a:p>
            <a:r>
              <a:rPr lang="en-GB" sz="1300" b="1" i="0" dirty="0">
                <a:solidFill>
                  <a:srgbClr val="FFFFFF"/>
                </a:solidFill>
                <a:effectLst/>
                <a:latin typeface="Söhne"/>
              </a:rPr>
              <a:t>The Economic Elevation of Education</a:t>
            </a:r>
            <a:r>
              <a:rPr lang="en-GB" sz="1300" b="0" i="0" dirty="0">
                <a:solidFill>
                  <a:srgbClr val="FFFFFF"/>
                </a:solidFill>
                <a:effectLst/>
                <a:latin typeface="Söhne"/>
              </a:rPr>
              <a:t> The Interactive Boxplot of Income Distribution by Education Level, our story's climax, tells the story of individual economic stories shaped by educational attainment through each box and whisker. This data visualisation embodies Cairo's (2013) concept of "functional art," combining practicality and aesthetics to highlight the dual role that education plays in fostering economic development and serving as a safeguard against poverty.</a:t>
            </a:r>
            <a:endParaRPr lang="en-GB" sz="1300" b="1" u="sng" dirty="0">
              <a:solidFill>
                <a:srgbClr val="FFFFFF"/>
              </a:solidFill>
              <a:latin typeface="Söhne"/>
            </a:endParaRPr>
          </a:p>
          <a:p>
            <a:pPr marL="0" indent="0">
              <a:buNone/>
            </a:pPr>
            <a:endParaRPr lang="en-GB" sz="1500" b="1" i="0" u="sng" dirty="0">
              <a:solidFill>
                <a:srgbClr val="FFFFFF"/>
              </a:solidFill>
              <a:effectLst/>
              <a:latin typeface="Söhne"/>
            </a:endParaRPr>
          </a:p>
          <a:p>
            <a:pPr marL="0" indent="0">
              <a:buNone/>
            </a:pPr>
            <a:r>
              <a:rPr lang="en-GB" sz="1800" b="1" i="0" u="sng" dirty="0">
                <a:solidFill>
                  <a:srgbClr val="FFFFFF"/>
                </a:solidFill>
                <a:effectLst/>
                <a:latin typeface="Söhne"/>
              </a:rPr>
              <a:t>The Silhouettes of Data – Critiquing the Unseen</a:t>
            </a:r>
            <a:endParaRPr lang="en-GB" sz="1800" b="0" i="0" u="sng" dirty="0">
              <a:solidFill>
                <a:srgbClr val="FFFFFF"/>
              </a:solidFill>
              <a:effectLst/>
              <a:latin typeface="Söhne"/>
            </a:endParaRPr>
          </a:p>
          <a:p>
            <a:r>
              <a:rPr lang="en-GB" sz="1800" b="0" i="0" dirty="0">
                <a:solidFill>
                  <a:srgbClr val="FFFFFF"/>
                </a:solidFill>
                <a:effectLst/>
                <a:latin typeface="Söhne"/>
              </a:rPr>
              <a:t>Even while our investigation of the socioeconomic environment is thorough and analytical, it is not without flaws. The dataset, our principal raconteur, is silent on a number of important issues. Here, Tufte's (2001) warning about misinterpreting data is relevant, as the omissions in our dataset create a long shadow. The broad definitions of race and marital status ignore complex identities, and our study has blind spots due to the lack of indicators for cost of living and geography.</a:t>
            </a:r>
          </a:p>
          <a:p>
            <a:r>
              <a:rPr lang="en-GB" sz="1800" b="0" i="0" dirty="0">
                <a:solidFill>
                  <a:srgbClr val="FFFFFF"/>
                </a:solidFill>
                <a:effectLst/>
                <a:latin typeface="Söhne"/>
              </a:rPr>
              <a:t>Data storytelling, as </a:t>
            </a:r>
            <a:r>
              <a:rPr lang="en-GB" sz="1800" b="0" i="0" dirty="0" err="1">
                <a:solidFill>
                  <a:srgbClr val="FFFFFF"/>
                </a:solidFill>
                <a:effectLst/>
                <a:latin typeface="Söhne"/>
              </a:rPr>
              <a:t>Knaflic</a:t>
            </a:r>
            <a:r>
              <a:rPr lang="en-GB" sz="1800" b="0" i="0" dirty="0">
                <a:solidFill>
                  <a:srgbClr val="FFFFFF"/>
                </a:solidFill>
                <a:effectLst/>
                <a:latin typeface="Söhne"/>
              </a:rPr>
              <a:t> (2015) incisively notes, is about both the narratives we intentionally create and the ones we unintentionally ignore. We object to the dataset's noteworthy gender approach, which blurs the complex range of gender experiences by reducing a rich tapestry of gender identities to a binary.</a:t>
            </a:r>
          </a:p>
          <a:p>
            <a:r>
              <a:rPr lang="en-GB" sz="1800" b="0" i="0" dirty="0">
                <a:solidFill>
                  <a:srgbClr val="FFFFFF"/>
                </a:solidFill>
                <a:effectLst/>
                <a:latin typeface="Söhne"/>
              </a:rPr>
              <a:t>Even though they are striking to look at, visualisations like our heatmap only show a portion of the dynamic socioeconomic story. Our data's static nature makes it difficult to monitor changes in income mobility, plot the gender gap's historical evolution, or assess the effects of schooling at different phases of life. Our analysis is more than just a scholarly exercise; it's also a reflective trip into the invisible forces influencing socioeconomic trends, considering the voices that go unheard in our dataset and the untold stories.</a:t>
            </a:r>
          </a:p>
          <a:p>
            <a:endParaRPr lang="en-GB" sz="900" b="0" i="0" dirty="0">
              <a:solidFill>
                <a:srgbClr val="FFFFFF"/>
              </a:solidFill>
              <a:effectLst/>
              <a:latin typeface="Söhne"/>
            </a:endParaRPr>
          </a:p>
          <a:p>
            <a:endParaRPr lang="en-GB" sz="900" b="0" i="0" dirty="0">
              <a:solidFill>
                <a:srgbClr val="FFFFFF"/>
              </a:solidFill>
              <a:effectLst/>
              <a:latin typeface="Söhne"/>
            </a:endParaRPr>
          </a:p>
          <a:p>
            <a:pPr marL="0" indent="0">
              <a:buNone/>
            </a:pPr>
            <a:br>
              <a:rPr lang="en-GB" sz="900" dirty="0">
                <a:solidFill>
                  <a:srgbClr val="FFFFFF"/>
                </a:solidFill>
              </a:rPr>
            </a:br>
            <a:endParaRPr lang="en-US" sz="900" dirty="0">
              <a:solidFill>
                <a:srgbClr val="FFFFFF"/>
              </a:solidFill>
            </a:endParaRPr>
          </a:p>
          <a:p>
            <a:endParaRPr lang="en-US" sz="900" dirty="0">
              <a:solidFill>
                <a:srgbClr val="FFFFFF"/>
              </a:solidFill>
            </a:endParaRPr>
          </a:p>
        </p:txBody>
      </p:sp>
    </p:spTree>
    <p:extLst>
      <p:ext uri="{BB962C8B-B14F-4D97-AF65-F5344CB8AC3E}">
        <p14:creationId xmlns:p14="http://schemas.microsoft.com/office/powerpoint/2010/main" val="2224406014"/>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8395" y="1040837"/>
            <a:ext cx="4754948" cy="4754948"/>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056F38F-7C4E-461D-8709-7D0024AE1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411" y="1029607"/>
            <a:ext cx="4754948" cy="4754948"/>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7278469-3C3C-49CE-AEEE-E176A4900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60" y="934855"/>
            <a:ext cx="4754948" cy="4754948"/>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57C5C3-A702-1EBC-9838-38E420FF644F}"/>
              </a:ext>
            </a:extLst>
          </p:cNvPr>
          <p:cNvSpPr>
            <a:spLocks noGrp="1"/>
          </p:cNvSpPr>
          <p:nvPr>
            <p:ph type="title"/>
          </p:nvPr>
        </p:nvSpPr>
        <p:spPr>
          <a:xfrm>
            <a:off x="1102368" y="1877492"/>
            <a:ext cx="4030132" cy="3215373"/>
          </a:xfrm>
        </p:spPr>
        <p:txBody>
          <a:bodyPr>
            <a:normAutofit/>
          </a:bodyPr>
          <a:lstStyle/>
          <a:p>
            <a:pPr algn="ctr"/>
            <a:r>
              <a:rPr lang="en-US" sz="3700">
                <a:solidFill>
                  <a:schemeClr val="bg1"/>
                </a:solidFill>
              </a:rPr>
              <a:t>Beyond the Surface: Confronting Dataset Limitations in Sociodemographic Analysis</a:t>
            </a:r>
          </a:p>
        </p:txBody>
      </p:sp>
      <p:grpSp>
        <p:nvGrpSpPr>
          <p:cNvPr id="16" name="Group 15">
            <a:extLst>
              <a:ext uri="{FF2B5EF4-FFF2-40B4-BE49-F238E27FC236}">
                <a16:creationId xmlns:a16="http://schemas.microsoft.com/office/drawing/2014/main" id="{93DC754C-7E09-422D-A8BB-AF632E90D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17" name="Freeform: Shape 16">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20" name="Graphic 212">
            <a:extLst>
              <a:ext uri="{FF2B5EF4-FFF2-40B4-BE49-F238E27FC236}">
                <a16:creationId xmlns:a16="http://schemas.microsoft.com/office/drawing/2014/main" id="{4C6598AB-1C17-4D54-951C-A082D94AC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C83B66D7-137D-4AC1-B172-53D60F08B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4" name="Oval 23">
            <a:extLst>
              <a:ext uri="{FF2B5EF4-FFF2-40B4-BE49-F238E27FC236}">
                <a16:creationId xmlns:a16="http://schemas.microsoft.com/office/drawing/2014/main" id="{F6B92503-6984-4D15-8B98-8718709B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08DDF938-524E-4C18-A47D-C00627832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9F31C294-89E6-0333-A303-B5F0E9D5DCE7}"/>
              </a:ext>
            </a:extLst>
          </p:cNvPr>
          <p:cNvSpPr>
            <a:spLocks noGrp="1"/>
          </p:cNvSpPr>
          <p:nvPr>
            <p:ph idx="1"/>
          </p:nvPr>
        </p:nvSpPr>
        <p:spPr>
          <a:xfrm>
            <a:off x="6234868" y="1130846"/>
            <a:ext cx="5217173" cy="4351338"/>
          </a:xfrm>
        </p:spPr>
        <p:txBody>
          <a:bodyPr numCol="2">
            <a:normAutofit fontScale="92500" lnSpcReduction="10000"/>
          </a:bodyPr>
          <a:lstStyle/>
          <a:p>
            <a:r>
              <a:rPr lang="en-US" sz="1100" dirty="0">
                <a:solidFill>
                  <a:schemeClr val="bg1"/>
                </a:solidFill>
              </a:rPr>
              <a:t>Discover a mosaic of insights by navigating through the sociodemographic information. These insights are interwoven with details about gender, education, marital status, and job hours. But the fabric also contains shadows, places where the data is insufficient to paint a whole picture.</a:t>
            </a:r>
          </a:p>
          <a:p>
            <a:r>
              <a:rPr lang="en-US" sz="1100" dirty="0">
                <a:solidFill>
                  <a:schemeClr val="bg1"/>
                </a:solidFill>
              </a:rPr>
              <a:t>While the visualizations offer profound insights, they are constrained by dataset limitations such as sample size, representativeness, and potential biases. For instance, the income data may not fully capture the economic disparities across different social groups. Additionally, the lack of longitudinal data limits the understanding of trends over time. Such limitations necessitate cautious interpretation and underscore the need for comprehensive and diverse data collection methods.</a:t>
            </a:r>
          </a:p>
          <a:p>
            <a:r>
              <a:rPr lang="en-US" sz="1100" dirty="0">
                <a:solidFill>
                  <a:schemeClr val="bg1"/>
                </a:solidFill>
              </a:rPr>
              <a:t>Variable Scope: While the dataset is rich, several dimensions—like ethnicity and location—are absent. Our analysis's breadth is reduced by this omission, making it more difficult to examine more extensive sociodemographic influences.</a:t>
            </a:r>
          </a:p>
          <a:p>
            <a:r>
              <a:rPr lang="en-US" sz="1100" dirty="0">
                <a:solidFill>
                  <a:schemeClr val="bg1"/>
                </a:solidFill>
              </a:rPr>
              <a:t>Temporal Limitations: The dataset's inability to trace patterns and trends over time or provide evolutionary insights is due to its lack of a temporal dimension, which limits our study to a static picture.</a:t>
            </a:r>
          </a:p>
          <a:p>
            <a:endParaRPr lang="en-US" sz="1100" dirty="0">
              <a:solidFill>
                <a:schemeClr val="bg1"/>
              </a:solidFill>
            </a:endParaRPr>
          </a:p>
          <a:p>
            <a:endParaRPr lang="en-US" sz="1100" dirty="0">
              <a:solidFill>
                <a:schemeClr val="bg1"/>
              </a:solidFill>
            </a:endParaRPr>
          </a:p>
          <a:p>
            <a:r>
              <a:rPr lang="en-US" sz="1100" dirty="0">
                <a:solidFill>
                  <a:schemeClr val="bg1"/>
                </a:solidFill>
              </a:rPr>
              <a:t>Granularity: Finer features are hidden by the dataset's broad categorizations. The </a:t>
            </a:r>
            <a:r>
              <a:rPr lang="en-US" sz="1100" dirty="0" err="1">
                <a:solidFill>
                  <a:schemeClr val="bg1"/>
                </a:solidFill>
              </a:rPr>
              <a:t>generalised</a:t>
            </a:r>
            <a:r>
              <a:rPr lang="en-US" sz="1100" dirty="0">
                <a:solidFill>
                  <a:schemeClr val="bg1"/>
                </a:solidFill>
              </a:rPr>
              <a:t> groupings impede the identification of more precise relationships and subtle patterns, particularly in categorical variables.</a:t>
            </a:r>
          </a:p>
          <a:p>
            <a:r>
              <a:rPr lang="en-US" sz="1100" dirty="0">
                <a:solidFill>
                  <a:schemeClr val="bg1"/>
                </a:solidFill>
              </a:rPr>
              <a:t>Handling of Missing Data: Whether by imputation or omission, methods for handling ambiguous or missing data induce biases. These methods have an effect on the accuracy and consistency of the conclusions drawn.</a:t>
            </a:r>
          </a:p>
          <a:p>
            <a:r>
              <a:rPr lang="en-US" sz="1100" dirty="0">
                <a:solidFill>
                  <a:schemeClr val="bg1"/>
                </a:solidFill>
              </a:rPr>
              <a:t>Statistical Robustness: The architecture of the dataset places limitations on the use of specific statistical and methodological techniques, which has an impact on the comprehensiveness and resilience of the analytical results.</a:t>
            </a:r>
          </a:p>
          <a:p>
            <a:r>
              <a:rPr lang="en-US" sz="1100" dirty="0">
                <a:solidFill>
                  <a:schemeClr val="bg1"/>
                </a:solidFill>
              </a:rPr>
              <a:t>As a result, although while the dataset is a useful tool for studying sociodemographic trends, its shortcomings cast a shadow that slightly affects the breadth, depth, and clarity of the stories and insights that can be revealed.</a:t>
            </a:r>
          </a:p>
        </p:txBody>
      </p:sp>
      <p:grpSp>
        <p:nvGrpSpPr>
          <p:cNvPr id="28" name="Graphic 185">
            <a:extLst>
              <a:ext uri="{FF2B5EF4-FFF2-40B4-BE49-F238E27FC236}">
                <a16:creationId xmlns:a16="http://schemas.microsoft.com/office/drawing/2014/main" id="{3773FAF5-C452-4455-9411-D6AF5EBD4C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812239" y="6139464"/>
            <a:ext cx="1054466" cy="469689"/>
            <a:chOff x="9841624" y="4115729"/>
            <a:chExt cx="602169" cy="268223"/>
          </a:xfrm>
          <a:solidFill>
            <a:schemeClr val="bg1"/>
          </a:solidFill>
        </p:grpSpPr>
        <p:sp>
          <p:nvSpPr>
            <p:cNvPr id="29" name="Freeform: Shape 28">
              <a:extLst>
                <a:ext uri="{FF2B5EF4-FFF2-40B4-BE49-F238E27FC236}">
                  <a16:creationId xmlns:a16="http://schemas.microsoft.com/office/drawing/2014/main" id="{1ECA0D96-F63C-4F7B-BE16-0F3FE76D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4F83A81-0546-400A-918A-90C9C48B8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741F692-A5B6-4215-86D9-B1FD4FF2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CC0876CB-9C60-4580-8FED-CD64EC766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879B3B7-48DB-4D3A-BB33-02766EAD3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8017934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0F503C0-86C1-3D44-8A2F-AEDE424FFA20}">
  <we:reference id="4567b711-9f2d-454d-b0d0-74708a29b461" version="1.0.0.0" store="EXCatalog" storeType="EXCatalog"/>
  <we:alternateReferences>
    <we:reference id="WA200001313" version="1.0.0.0" store="en-GB"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1030</TotalTime>
  <Words>2924</Words>
  <Application>Microsoft Macintosh PowerPoint</Application>
  <PresentationFormat>Widescreen</PresentationFormat>
  <Paragraphs>86</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-apple-system</vt:lpstr>
      <vt:lpstr>Arial</vt:lpstr>
      <vt:lpstr>Calibri</vt:lpstr>
      <vt:lpstr>Calibri Light</vt:lpstr>
      <vt:lpstr>Helvetica Neue</vt:lpstr>
      <vt:lpstr>Söhne</vt:lpstr>
      <vt:lpstr>Office Theme</vt:lpstr>
      <vt:lpstr>Exploratory Data Analysis:   Sociodemographic Patterns and Trends</vt:lpstr>
      <vt:lpstr>Overview</vt:lpstr>
      <vt:lpstr>Insights, patterns and perspectives</vt:lpstr>
      <vt:lpstr>Key findings</vt:lpstr>
      <vt:lpstr>Narrative and Critique</vt:lpstr>
      <vt:lpstr>Beyond the Surface: Confronting Dataset Limitations in Sociodemographic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Exploratory Data Analysis:   Sociodemographic Patterns and Trends</dc:title>
  <dc:creator>Ul-Raqib, Mazafer</dc:creator>
  <cp:lastModifiedBy>Ul-Raqib, Mazafer</cp:lastModifiedBy>
  <cp:revision>20</cp:revision>
  <dcterms:created xsi:type="dcterms:W3CDTF">2023-10-24T17:07:04Z</dcterms:created>
  <dcterms:modified xsi:type="dcterms:W3CDTF">2023-11-17T10:32:51Z</dcterms:modified>
</cp:coreProperties>
</file>